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embeddedFontLst>
    <p:embeddedFont>
      <p:font typeface="Barlow SemiBold"/>
      <p:regular r:id="rId201314"/>
    </p:embeddedFont>
    <p:embeddedFont>
      <p:font typeface="Barlow Thin"/>
      <p:regular r:id="rId201315"/>
    </p:embeddedFont>
    <p:embeddedFont>
      <p:font typeface="Barlow ExtraLight"/>
      <p:regular r:id="rId201316"/>
    </p:embeddedFont>
    <p:embeddedFont>
      <p:font typeface="Barlow Light"/>
      <p:regular r:id="rId201317"/>
    </p:embeddedFont>
    <p:embeddedFont>
      <p:font typeface="Barlow"/>
      <p:regular r:id="rId201318"/>
    </p:embeddedFont>
    <p:embeddedFont>
      <p:font typeface="Barlow Medium"/>
      <p:regular r:id="rId201319"/>
    </p:embeddedFont>
    <p:embeddedFont>
      <p:font typeface="Barlow Bold"/>
      <p:regular r:id="rId201320"/>
    </p:embeddedFont>
    <p:embeddedFont>
      <p:font typeface="Barlow ExtraBold"/>
      <p:regular r:id="rId201321"/>
    </p:embeddedFont>
    <p:embeddedFont>
      <p:font typeface="Barlow Black"/>
      <p:regular r:id="rId201322"/>
    </p:embeddedFont>
    <p:embeddedFont>
      <p:font typeface="Montserrat Thin"/>
      <p:regular r:id="rId201323"/>
    </p:embeddedFont>
    <p:embeddedFont>
      <p:font typeface="Montserrat"/>
      <p:regular r:id="rId201324"/>
    </p:embeddedFont>
    <p:embeddedFont>
      <p:font typeface="Montserrat SemiBold"/>
      <p:regular r:id="rId201325"/>
    </p:embeddedFont>
    <p:embeddedFont>
      <p:font typeface="Montserrat Bold"/>
      <p:regular r:id="rId201326"/>
    </p:embeddedFont>
    <p:embeddedFont>
      <p:font typeface="Montserrat Black"/>
      <p:regular r:id="rId201327"/>
    </p:embeddedFont>
    <p:embeddedFont>
      <p:font typeface="Montserrat Light"/>
      <p:regular r:id="rId201328"/>
    </p:embeddedFont>
    <p:embeddedFont>
      <p:font typeface="Montserrat ExtraLight"/>
      <p:regular r:id="rId201329"/>
    </p:embeddedFont>
    <p:embeddedFont>
      <p:font typeface="Montserrat Medium"/>
      <p:regular r:id="rId201330"/>
    </p:embeddedFont>
    <p:embeddedFont>
      <p:font typeface="Montserrat ExtraBold"/>
      <p:regular r:id="rId2013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 Id="rId201333" Target="fonts/201333.fntdata" Type="http://schemas.openxmlformats.org/officeDocument/2006/relationships/font"/><Relationship Id="rId201334" Target="fonts/201334.fntdata" Type="http://schemas.openxmlformats.org/officeDocument/2006/relationships/font"/><Relationship Id="rId201335" Target="fonts/20133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image" Target="../media/image-2-10.png"/><Relationship Id="rId11" Type="http://schemas.openxmlformats.org/officeDocument/2006/relationships/image" Target="../media/image-2-11.svg"/><Relationship Id="rId12" Type="http://schemas.openxmlformats.org/officeDocument/2006/relationships/slideLayout" Target="../slideLayouts/slideLayout2.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2.png"/><Relationship Id="rId9" Type="http://schemas.openxmlformats.org/officeDocument/2006/relationships/image" Target="../media/image-4-3.svg"/><Relationship Id="rId10" Type="http://schemas.openxmlformats.org/officeDocument/2006/relationships/image" Target="../media/image-4-2.png"/><Relationship Id="rId11" Type="http://schemas.openxmlformats.org/officeDocument/2006/relationships/image" Target="../media/image-4-3.svg"/><Relationship Id="rId12" Type="http://schemas.openxmlformats.org/officeDocument/2006/relationships/slideLayout" Target="../slideLayouts/slideLayout2.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6.png"/><Relationship Id="rId7" Type="http://schemas.openxmlformats.org/officeDocument/2006/relationships/image" Target="../media/image-6-7.svg"/><Relationship Id="rId8" Type="http://schemas.openxmlformats.org/officeDocument/2006/relationships/image" Target="../media/image-6-6.png"/><Relationship Id="rId9" Type="http://schemas.openxmlformats.org/officeDocument/2006/relationships/image" Target="../media/image-6-7.svg"/><Relationship Id="rId10" Type="http://schemas.openxmlformats.org/officeDocument/2006/relationships/image" Target="../media/image-6-10.png"/><Relationship Id="rId11" Type="http://schemas.openxmlformats.org/officeDocument/2006/relationships/image" Target="../media/image-6-11.svg"/><Relationship Id="rId12" Type="http://schemas.openxmlformats.org/officeDocument/2006/relationships/image" Target="../media/image-6-10.png"/><Relationship Id="rId13" Type="http://schemas.openxmlformats.org/officeDocument/2006/relationships/image" Target="../media/image-6-11.svg"/><Relationship Id="rId14" Type="http://schemas.openxmlformats.org/officeDocument/2006/relationships/slideLayout" Target="../slideLayouts/slideLayout2.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600450" cy="5143500"/>
          </a:xfrm>
          <a:prstGeom prst="rect">
            <a:avLst/>
          </a:prstGeom>
        </p:spPr>
      </p:pic>
      <p:sp>
        <p:nvSpPr>
          <p:cNvPr id="3" name="Text 0"/>
          <p:cNvSpPr/>
          <p:nvPr/>
        </p:nvSpPr>
        <p:spPr>
          <a:xfrm>
            <a:off x="3902943" y="1814066"/>
            <a:ext cx="4767114" cy="445443"/>
          </a:xfrm>
          <a:prstGeom prst="rect">
            <a:avLst/>
          </a:prstGeom>
          <a:noFill/>
          <a:ln/>
        </p:spPr>
        <p:txBody>
          <a:bodyPr wrap="none" lIns="0" tIns="0" rIns="0" bIns="0" rtlCol="0" anchor="t"/>
          <a:lstStyle/>
          <a:p>
            <a:pPr algn="l" indent="0" marL="0">
              <a:lnSpc>
                <a:spcPct val="104000"/>
              </a:lnSpc>
              <a:buNone/>
            </a:pPr>
            <a:r>
              <a:rPr lang="en-US" sz="2800" b="1" dirty="0">
                <a:solidFill>
                  <a:srgbClr val="2E3C4E"/>
                </a:solidFill>
                <a:latin typeface="Barlow Bold" pitchFamily="34" charset="0"/>
                <a:ea typeface="Barlow Bold" pitchFamily="34" charset="-122"/>
                <a:cs typeface="Barlow Bold" pitchFamily="34" charset="-120"/>
              </a:rPr>
              <a:t>AquaVital Mineral Water</a:t>
            </a:r>
            <a:endParaRPr lang="en-US" sz="2800" dirty="0"/>
          </a:p>
        </p:txBody>
      </p:sp>
      <p:sp>
        <p:nvSpPr>
          <p:cNvPr id="4" name="Text 1"/>
          <p:cNvSpPr/>
          <p:nvPr/>
        </p:nvSpPr>
        <p:spPr>
          <a:xfrm>
            <a:off x="3902943" y="2462585"/>
            <a:ext cx="4767114" cy="866775"/>
          </a:xfrm>
          <a:prstGeom prst="rect">
            <a:avLst/>
          </a:prstGeom>
          <a:noFill/>
          <a:ln/>
        </p:spPr>
        <p:txBody>
          <a:bodyPr wrap="square" lIns="0" tIns="0" rIns="0" bIns="0" rtlCol="0" anchor="t">
            <a:normAutofit/>
          </a:bodyPr>
          <a:lstStyle/>
          <a:p>
            <a:pPr algn="l" indent="0" marL="0">
              <a:lnSpc>
                <a:spcPct val="133000"/>
              </a:lnSpc>
              <a:buNone/>
            </a:pPr>
            <a:r>
              <a:rPr lang="en-US" sz="1050" b="1" dirty="0">
                <a:solidFill>
                  <a:srgbClr val="384653"/>
                </a:solidFill>
                <a:latin typeface="Montserrat Bold" pitchFamily="34" charset="0"/>
                <a:ea typeface="Montserrat Bold" pitchFamily="34" charset="-122"/>
                <a:cs typeface="Montserrat Bold" pitchFamily="34" charset="-120"/>
              </a:rPr>
              <a:t>Comprehensive Marketing Plan</a:t>
            </a:r>
            <a:pPr algn="l" indent="0" marL="0">
              <a:lnSpc>
                <a:spcPct val="133000"/>
              </a:lnSpc>
              <a:buNone/>
            </a:pPr>
            <a:r>
              <a:rPr lang="en-US" sz="1050" dirty="0">
                <a:solidFill>
                  <a:srgbClr val="384653"/>
                </a:solidFill>
                <a:latin typeface="Montserrat" pitchFamily="34" charset="0"/>
                <a:ea typeface="Montserrat" pitchFamily="34" charset="-122"/>
                <a:cs typeface="Montserrat" pitchFamily="34" charset="-120"/>
              </a:rPr>
              <a:t> — Establish AquaVital as a trusted, affordable mineral water brand for health-conscious budget families in Singapore. Increase brand awareness and encourage repeat purchases through value-driven marketing.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73943" y="372368"/>
            <a:ext cx="546720" cy="102766"/>
          </a:xfrm>
          <a:prstGeom prst="roundRect">
            <a:avLst>
              <a:gd name="adj" fmla="val 79062"/>
            </a:avLst>
          </a:prstGeom>
          <a:solidFill>
            <a:srgbClr val="D4E9F7"/>
          </a:solidFill>
          <a:ln/>
        </p:spPr>
      </p:sp>
      <p:sp>
        <p:nvSpPr>
          <p:cNvPr id="3" name="Text 1"/>
          <p:cNvSpPr/>
          <p:nvPr/>
        </p:nvSpPr>
        <p:spPr>
          <a:xfrm>
            <a:off x="514499" y="392609"/>
            <a:ext cx="922809" cy="62285"/>
          </a:xfrm>
          <a:prstGeom prst="rect">
            <a:avLst/>
          </a:prstGeom>
          <a:noFill/>
          <a:ln/>
        </p:spPr>
        <p:txBody>
          <a:bodyPr wrap="none" lIns="0" tIns="0" rIns="0" bIns="0" rtlCol="0" anchor="t"/>
          <a:lstStyle/>
          <a:p>
            <a:pPr algn="l" indent="0" marL="0">
              <a:lnSpc>
                <a:spcPct val="96000"/>
              </a:lnSpc>
              <a:buNone/>
            </a:pPr>
            <a:r>
              <a:rPr lang="en-US" sz="400" dirty="0">
                <a:solidFill>
                  <a:srgbClr val="384653"/>
                </a:solidFill>
                <a:latin typeface="Montserrat" pitchFamily="34" charset="0"/>
                <a:ea typeface="Montserrat" pitchFamily="34" charset="-122"/>
                <a:cs typeface="Montserrat" pitchFamily="34" charset="-120"/>
              </a:rPr>
              <a:t>TARGET MARKET</a:t>
            </a:r>
            <a:endParaRPr lang="en-US" sz="400" dirty="0"/>
          </a:p>
        </p:txBody>
      </p:sp>
      <p:sp>
        <p:nvSpPr>
          <p:cNvPr id="4" name="Text 2"/>
          <p:cNvSpPr/>
          <p:nvPr/>
        </p:nvSpPr>
        <p:spPr>
          <a:xfrm>
            <a:off x="473943" y="488603"/>
            <a:ext cx="8196114" cy="222647"/>
          </a:xfrm>
          <a:prstGeom prst="rect">
            <a:avLst/>
          </a:prstGeom>
          <a:noFill/>
          <a:ln/>
        </p:spPr>
        <p:txBody>
          <a:bodyPr wrap="none" lIns="0" tIns="0" rIns="0" bIns="0" rtlCol="0" anchor="t"/>
          <a:lstStyle/>
          <a:p>
            <a:pPr algn="l" indent="0" marL="0">
              <a:lnSpc>
                <a:spcPct val="104000"/>
              </a:lnSpc>
              <a:buNone/>
            </a:pPr>
            <a:r>
              <a:rPr lang="en-US" sz="1400" b="1" dirty="0">
                <a:solidFill>
                  <a:srgbClr val="2E3C4E"/>
                </a:solidFill>
                <a:latin typeface="Barlow Bold" pitchFamily="34" charset="0"/>
                <a:ea typeface="Barlow Bold" pitchFamily="34" charset="-122"/>
                <a:cs typeface="Barlow Bold" pitchFamily="34" charset="-120"/>
              </a:rPr>
              <a:t>Target Market Strategies</a:t>
            </a:r>
            <a:endParaRPr lang="en-US" sz="1400" dirty="0"/>
          </a:p>
        </p:txBody>
      </p:sp>
      <p:pic>
        <p:nvPicPr>
          <p:cNvPr id="5" name="Image 0" descr="preencoded.png">    </p:cNvPr>
          <p:cNvPicPr>
            <a:picLocks noChangeAspect="1"/>
          </p:cNvPicPr>
          <p:nvPr/>
        </p:nvPicPr>
        <p:blipFill>
          <a:blip r:embed="rId1"/>
          <a:stretch>
            <a:fillRect/>
          </a:stretch>
        </p:blipFill>
        <p:spPr>
          <a:xfrm>
            <a:off x="473943" y="800026"/>
            <a:ext cx="5269632" cy="2986088"/>
          </a:xfrm>
          <a:prstGeom prst="rect">
            <a:avLst/>
          </a:prstGeom>
        </p:spPr>
      </p:pic>
      <p:sp>
        <p:nvSpPr>
          <p:cNvPr id="6" name="Text 3"/>
          <p:cNvSpPr/>
          <p:nvPr/>
        </p:nvSpPr>
        <p:spPr>
          <a:xfrm>
            <a:off x="5913537" y="2140893"/>
            <a:ext cx="2761208" cy="111323"/>
          </a:xfrm>
          <a:prstGeom prst="rect">
            <a:avLst/>
          </a:prstGeom>
          <a:noFill/>
          <a:ln/>
        </p:spPr>
        <p:txBody>
          <a:bodyPr wrap="none" lIns="0" tIns="0" rIns="0" bIns="0" rtlCol="0" anchor="t"/>
          <a:lstStyle/>
          <a:p>
            <a:pPr algn="l" indent="0" marL="0">
              <a:lnSpc>
                <a:spcPct val="104000"/>
              </a:lnSpc>
              <a:buNone/>
            </a:pPr>
            <a:r>
              <a:rPr lang="en-US" sz="700" b="1" dirty="0">
                <a:solidFill>
                  <a:srgbClr val="2E3C4E"/>
                </a:solidFill>
                <a:latin typeface="Barlow Bold" pitchFamily="34" charset="0"/>
                <a:ea typeface="Barlow Bold" pitchFamily="34" charset="-122"/>
                <a:cs typeface="Barlow Bold" pitchFamily="34" charset="-120"/>
              </a:rPr>
              <a:t>Who We Serve</a:t>
            </a:r>
            <a:endParaRPr lang="en-US" sz="700" dirty="0"/>
          </a:p>
        </p:txBody>
      </p:sp>
      <p:sp>
        <p:nvSpPr>
          <p:cNvPr id="7" name="Text 4"/>
          <p:cNvSpPr/>
          <p:nvPr/>
        </p:nvSpPr>
        <p:spPr>
          <a:xfrm>
            <a:off x="5913537" y="2286000"/>
            <a:ext cx="2761208" cy="162520"/>
          </a:xfrm>
          <a:prstGeom prst="rect">
            <a:avLst/>
          </a:prstGeom>
          <a:noFill/>
          <a:ln/>
        </p:spPr>
        <p:txBody>
          <a:bodyPr wrap="square" lIns="0" tIns="0" rIns="0" bIns="0" rtlCol="0" anchor="t">
            <a:normAutofit/>
          </a:bodyPr>
          <a:lstStyle/>
          <a:p>
            <a:pPr algn="l" indent="0" marL="0">
              <a:lnSpc>
                <a:spcPct val="100000"/>
              </a:lnSpc>
              <a:buNone/>
            </a:pPr>
            <a:r>
              <a:rPr lang="en-US" sz="500" dirty="0">
                <a:solidFill>
                  <a:srgbClr val="384653"/>
                </a:solidFill>
                <a:latin typeface="Montserrat" pitchFamily="34" charset="0"/>
                <a:ea typeface="Montserrat" pitchFamily="34" charset="-122"/>
                <a:cs typeface="Montserrat" pitchFamily="34" charset="-120"/>
              </a:rPr>
              <a:t>Parents aged 30–55, lower-middle to middle-income households, regular supermarket shoppers seeking healthy and affordable hydration.</a:t>
            </a:r>
            <a:endParaRPr lang="en-US" sz="500" dirty="0"/>
          </a:p>
        </p:txBody>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943" y="3862164"/>
            <a:ext cx="2023690" cy="529679"/>
          </a:xfrm>
          <a:prstGeom prst="rect">
            <a:avLst/>
          </a:prstGeom>
        </p:spPr>
      </p:pic>
      <p:sp>
        <p:nvSpPr>
          <p:cNvPr id="9" name="Text 5"/>
          <p:cNvSpPr/>
          <p:nvPr/>
        </p:nvSpPr>
        <p:spPr>
          <a:xfrm>
            <a:off x="589211" y="3939332"/>
            <a:ext cx="1831256" cy="111323"/>
          </a:xfrm>
          <a:prstGeom prst="rect">
            <a:avLst/>
          </a:prstGeom>
          <a:noFill/>
          <a:ln/>
        </p:spPr>
        <p:txBody>
          <a:bodyPr wrap="none" lIns="0" tIns="0" rIns="0" bIns="0" rtlCol="0" anchor="t"/>
          <a:lstStyle/>
          <a:p>
            <a:pPr algn="l" indent="0" marL="0">
              <a:lnSpc>
                <a:spcPct val="104000"/>
              </a:lnSpc>
              <a:buNone/>
            </a:pPr>
            <a:r>
              <a:rPr lang="en-US" sz="700" b="1" dirty="0">
                <a:solidFill>
                  <a:srgbClr val="384653"/>
                </a:solidFill>
                <a:latin typeface="Barlow Bold" pitchFamily="34" charset="0"/>
                <a:ea typeface="Barlow Bold" pitchFamily="34" charset="-122"/>
                <a:cs typeface="Barlow Bold" pitchFamily="34" charset="-120"/>
              </a:rPr>
              <a:t>Positioning</a:t>
            </a:r>
            <a:endParaRPr lang="en-US" sz="700" dirty="0"/>
          </a:p>
        </p:txBody>
      </p:sp>
      <p:sp>
        <p:nvSpPr>
          <p:cNvPr id="10" name="Text 6"/>
          <p:cNvSpPr/>
          <p:nvPr/>
        </p:nvSpPr>
        <p:spPr>
          <a:xfrm>
            <a:off x="589211" y="4070896"/>
            <a:ext cx="1831256" cy="243780"/>
          </a:xfrm>
          <a:prstGeom prst="rect">
            <a:avLst/>
          </a:prstGeom>
          <a:noFill/>
          <a:ln/>
        </p:spPr>
        <p:txBody>
          <a:bodyPr wrap="square" lIns="0" tIns="0" rIns="0" bIns="0" rtlCol="0" anchor="t">
            <a:normAutofit/>
          </a:bodyPr>
          <a:lstStyle/>
          <a:p>
            <a:pPr algn="l" indent="0" marL="0">
              <a:lnSpc>
                <a:spcPct val="100000"/>
              </a:lnSpc>
              <a:buNone/>
            </a:pPr>
            <a:r>
              <a:rPr lang="en-US" sz="500" dirty="0">
                <a:solidFill>
                  <a:srgbClr val="384653"/>
                </a:solidFill>
                <a:latin typeface="Montserrat" pitchFamily="34" charset="0"/>
                <a:ea typeface="Montserrat" pitchFamily="34" charset="-122"/>
                <a:cs typeface="Montserrat" pitchFamily="34" charset="-120"/>
              </a:rPr>
              <a:t>Healthy, affordable mineral water with naturally occurring essential minerals for everyday family hydration.</a:t>
            </a:r>
            <a:endParaRPr lang="en-US" sz="500" dirty="0"/>
          </a:p>
        </p:txBody>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31418" y="3862164"/>
            <a:ext cx="2023690" cy="529679"/>
          </a:xfrm>
          <a:prstGeom prst="rect">
            <a:avLst/>
          </a:prstGeom>
        </p:spPr>
      </p:pic>
      <p:sp>
        <p:nvSpPr>
          <p:cNvPr id="12" name="Text 7"/>
          <p:cNvSpPr/>
          <p:nvPr/>
        </p:nvSpPr>
        <p:spPr>
          <a:xfrm>
            <a:off x="2646685" y="3939332"/>
            <a:ext cx="1831256" cy="111323"/>
          </a:xfrm>
          <a:prstGeom prst="rect">
            <a:avLst/>
          </a:prstGeom>
          <a:noFill/>
          <a:ln/>
        </p:spPr>
        <p:txBody>
          <a:bodyPr wrap="none" lIns="0" tIns="0" rIns="0" bIns="0" rtlCol="0" anchor="t"/>
          <a:lstStyle/>
          <a:p>
            <a:pPr algn="l" indent="0" marL="0">
              <a:lnSpc>
                <a:spcPct val="104000"/>
              </a:lnSpc>
              <a:buNone/>
            </a:pPr>
            <a:r>
              <a:rPr lang="en-US" sz="700" b="1" dirty="0">
                <a:solidFill>
                  <a:srgbClr val="384653"/>
                </a:solidFill>
                <a:latin typeface="Barlow Bold" pitchFamily="34" charset="0"/>
                <a:ea typeface="Barlow Bold" pitchFamily="34" charset="-122"/>
                <a:cs typeface="Barlow Bold" pitchFamily="34" charset="-120"/>
              </a:rPr>
              <a:t>Value Proposition</a:t>
            </a:r>
            <a:endParaRPr lang="en-US" sz="700" dirty="0"/>
          </a:p>
        </p:txBody>
      </p:sp>
      <p:sp>
        <p:nvSpPr>
          <p:cNvPr id="13" name="Text 8"/>
          <p:cNvSpPr/>
          <p:nvPr/>
        </p:nvSpPr>
        <p:spPr>
          <a:xfrm>
            <a:off x="2646685" y="4070896"/>
            <a:ext cx="1831256" cy="162520"/>
          </a:xfrm>
          <a:prstGeom prst="rect">
            <a:avLst/>
          </a:prstGeom>
          <a:noFill/>
          <a:ln/>
        </p:spPr>
        <p:txBody>
          <a:bodyPr wrap="square" lIns="0" tIns="0" rIns="0" bIns="0" rtlCol="0" anchor="t">
            <a:normAutofit/>
          </a:bodyPr>
          <a:lstStyle/>
          <a:p>
            <a:pPr algn="l" indent="0" marL="0">
              <a:lnSpc>
                <a:spcPct val="100000"/>
              </a:lnSpc>
              <a:buNone/>
            </a:pPr>
            <a:r>
              <a:rPr lang="en-US" sz="500" dirty="0">
                <a:solidFill>
                  <a:srgbClr val="384653"/>
                </a:solidFill>
                <a:latin typeface="Montserrat" pitchFamily="34" charset="0"/>
                <a:ea typeface="Montserrat" pitchFamily="34" charset="-122"/>
                <a:cs typeface="Montserrat" pitchFamily="34" charset="-120"/>
              </a:rPr>
              <a:t>"Healthy hydration for every family at an affordable price."</a:t>
            </a:r>
            <a:endParaRPr lang="en-US" sz="500" dirty="0"/>
          </a:p>
        </p:txBody>
      </p:sp>
      <p:pic>
        <p:nvPicPr>
          <p:cNvPr id="14"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88892" y="3862164"/>
            <a:ext cx="2023690" cy="529679"/>
          </a:xfrm>
          <a:prstGeom prst="rect">
            <a:avLst/>
          </a:prstGeom>
        </p:spPr>
      </p:pic>
      <p:sp>
        <p:nvSpPr>
          <p:cNvPr id="15" name="Text 9"/>
          <p:cNvSpPr/>
          <p:nvPr/>
        </p:nvSpPr>
        <p:spPr>
          <a:xfrm>
            <a:off x="4704159" y="3939332"/>
            <a:ext cx="1831256" cy="111323"/>
          </a:xfrm>
          <a:prstGeom prst="rect">
            <a:avLst/>
          </a:prstGeom>
          <a:noFill/>
          <a:ln/>
        </p:spPr>
        <p:txBody>
          <a:bodyPr wrap="none" lIns="0" tIns="0" rIns="0" bIns="0" rtlCol="0" anchor="t"/>
          <a:lstStyle/>
          <a:p>
            <a:pPr algn="l" indent="0" marL="0">
              <a:lnSpc>
                <a:spcPct val="104000"/>
              </a:lnSpc>
              <a:buNone/>
            </a:pPr>
            <a:r>
              <a:rPr lang="en-US" sz="700" b="1" dirty="0">
                <a:solidFill>
                  <a:srgbClr val="384653"/>
                </a:solidFill>
                <a:latin typeface="Barlow Bold" pitchFamily="34" charset="0"/>
                <a:ea typeface="Barlow Bold" pitchFamily="34" charset="-122"/>
                <a:cs typeface="Barlow Bold" pitchFamily="34" charset="-120"/>
              </a:rPr>
              <a:t>Acquisition</a:t>
            </a:r>
            <a:endParaRPr lang="en-US" sz="700" dirty="0"/>
          </a:p>
        </p:txBody>
      </p:sp>
      <p:sp>
        <p:nvSpPr>
          <p:cNvPr id="16" name="Text 10"/>
          <p:cNvSpPr/>
          <p:nvPr/>
        </p:nvSpPr>
        <p:spPr>
          <a:xfrm>
            <a:off x="4704159" y="4070896"/>
            <a:ext cx="1831256" cy="162520"/>
          </a:xfrm>
          <a:prstGeom prst="rect">
            <a:avLst/>
          </a:prstGeom>
          <a:noFill/>
          <a:ln/>
        </p:spPr>
        <p:txBody>
          <a:bodyPr wrap="square" lIns="0" tIns="0" rIns="0" bIns="0" rtlCol="0" anchor="t">
            <a:normAutofit/>
          </a:bodyPr>
          <a:lstStyle/>
          <a:p>
            <a:pPr algn="l" indent="0" marL="0">
              <a:lnSpc>
                <a:spcPct val="100000"/>
              </a:lnSpc>
              <a:buNone/>
            </a:pPr>
            <a:r>
              <a:rPr lang="en-US" sz="500" dirty="0">
                <a:solidFill>
                  <a:srgbClr val="384653"/>
                </a:solidFill>
                <a:latin typeface="Montserrat" pitchFamily="34" charset="0"/>
                <a:ea typeface="Montserrat" pitchFamily="34" charset="-122"/>
                <a:cs typeface="Montserrat" pitchFamily="34" charset="-120"/>
              </a:rPr>
              <a:t>Product sampling, supermarket promotions, family bundle offers, and introductory discounts.</a:t>
            </a:r>
            <a:endParaRPr lang="en-US" sz="500" dirty="0"/>
          </a:p>
        </p:txBody>
      </p:sp>
      <p:pic>
        <p:nvPicPr>
          <p:cNvPr id="17"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46366" y="3862164"/>
            <a:ext cx="2023690" cy="529679"/>
          </a:xfrm>
          <a:prstGeom prst="rect">
            <a:avLst/>
          </a:prstGeom>
        </p:spPr>
      </p:pic>
      <p:sp>
        <p:nvSpPr>
          <p:cNvPr id="18" name="Text 11"/>
          <p:cNvSpPr/>
          <p:nvPr/>
        </p:nvSpPr>
        <p:spPr>
          <a:xfrm>
            <a:off x="6761634" y="3939332"/>
            <a:ext cx="1831256" cy="111323"/>
          </a:xfrm>
          <a:prstGeom prst="rect">
            <a:avLst/>
          </a:prstGeom>
          <a:noFill/>
          <a:ln/>
        </p:spPr>
        <p:txBody>
          <a:bodyPr wrap="none" lIns="0" tIns="0" rIns="0" bIns="0" rtlCol="0" anchor="t"/>
          <a:lstStyle/>
          <a:p>
            <a:pPr algn="l" indent="0" marL="0">
              <a:lnSpc>
                <a:spcPct val="104000"/>
              </a:lnSpc>
              <a:buNone/>
            </a:pPr>
            <a:r>
              <a:rPr lang="en-US" sz="700" b="1" dirty="0">
                <a:solidFill>
                  <a:srgbClr val="384653"/>
                </a:solidFill>
                <a:latin typeface="Barlow Bold" pitchFamily="34" charset="0"/>
                <a:ea typeface="Barlow Bold" pitchFamily="34" charset="-122"/>
                <a:cs typeface="Barlow Bold" pitchFamily="34" charset="-120"/>
              </a:rPr>
              <a:t>Retention</a:t>
            </a:r>
            <a:endParaRPr lang="en-US" sz="700" dirty="0"/>
          </a:p>
        </p:txBody>
      </p:sp>
      <p:sp>
        <p:nvSpPr>
          <p:cNvPr id="19" name="Text 12"/>
          <p:cNvSpPr/>
          <p:nvPr/>
        </p:nvSpPr>
        <p:spPr>
          <a:xfrm>
            <a:off x="6761634" y="4070896"/>
            <a:ext cx="1831256" cy="162520"/>
          </a:xfrm>
          <a:prstGeom prst="rect">
            <a:avLst/>
          </a:prstGeom>
          <a:noFill/>
          <a:ln/>
        </p:spPr>
        <p:txBody>
          <a:bodyPr wrap="square" lIns="0" tIns="0" rIns="0" bIns="0" rtlCol="0" anchor="t">
            <a:normAutofit/>
          </a:bodyPr>
          <a:lstStyle/>
          <a:p>
            <a:pPr algn="l" indent="0" marL="0">
              <a:lnSpc>
                <a:spcPct val="100000"/>
              </a:lnSpc>
              <a:buNone/>
            </a:pPr>
            <a:r>
              <a:rPr lang="en-US" sz="500" dirty="0">
                <a:solidFill>
                  <a:srgbClr val="384653"/>
                </a:solidFill>
                <a:latin typeface="Montserrat" pitchFamily="34" charset="0"/>
                <a:ea typeface="Montserrat" pitchFamily="34" charset="-122"/>
                <a:cs typeface="Montserrat" pitchFamily="34" charset="-120"/>
              </a:rPr>
              <a:t>Loyalty rewards, seasonal promotions, family multipack discounts, and online grocery vouchers.</a:t>
            </a:r>
            <a:endParaRPr lang="en-US" sz="500" dirty="0"/>
          </a:p>
        </p:txBody>
      </p:sp>
      <p:pic>
        <p:nvPicPr>
          <p:cNvPr id="20"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73943" y="4425628"/>
            <a:ext cx="2023690" cy="448419"/>
          </a:xfrm>
          <a:prstGeom prst="rect">
            <a:avLst/>
          </a:prstGeom>
        </p:spPr>
      </p:pic>
      <p:sp>
        <p:nvSpPr>
          <p:cNvPr id="21" name="Text 13"/>
          <p:cNvSpPr/>
          <p:nvPr/>
        </p:nvSpPr>
        <p:spPr>
          <a:xfrm>
            <a:off x="589211" y="4502795"/>
            <a:ext cx="1831256" cy="111323"/>
          </a:xfrm>
          <a:prstGeom prst="rect">
            <a:avLst/>
          </a:prstGeom>
          <a:noFill/>
          <a:ln/>
        </p:spPr>
        <p:txBody>
          <a:bodyPr wrap="none" lIns="0" tIns="0" rIns="0" bIns="0" rtlCol="0" anchor="t"/>
          <a:lstStyle/>
          <a:p>
            <a:pPr algn="l" indent="0" marL="0">
              <a:lnSpc>
                <a:spcPct val="104000"/>
              </a:lnSpc>
              <a:buNone/>
            </a:pPr>
            <a:r>
              <a:rPr lang="en-US" sz="700" b="1" dirty="0">
                <a:solidFill>
                  <a:srgbClr val="384653"/>
                </a:solidFill>
                <a:latin typeface="Barlow Bold" pitchFamily="34" charset="0"/>
                <a:ea typeface="Barlow Bold" pitchFamily="34" charset="-122"/>
                <a:cs typeface="Barlow Bold" pitchFamily="34" charset="-120"/>
              </a:rPr>
              <a:t>Competitive Advantage</a:t>
            </a:r>
            <a:endParaRPr lang="en-US" sz="700" dirty="0"/>
          </a:p>
        </p:txBody>
      </p:sp>
      <p:sp>
        <p:nvSpPr>
          <p:cNvPr id="22" name="Text 14"/>
          <p:cNvSpPr/>
          <p:nvPr/>
        </p:nvSpPr>
        <p:spPr>
          <a:xfrm>
            <a:off x="589211" y="4634359"/>
            <a:ext cx="1831256" cy="162520"/>
          </a:xfrm>
          <a:prstGeom prst="rect">
            <a:avLst/>
          </a:prstGeom>
          <a:noFill/>
          <a:ln/>
        </p:spPr>
        <p:txBody>
          <a:bodyPr wrap="square" lIns="0" tIns="0" rIns="0" bIns="0" rtlCol="0" anchor="t">
            <a:normAutofit/>
          </a:bodyPr>
          <a:lstStyle/>
          <a:p>
            <a:pPr algn="l" indent="0" marL="0">
              <a:lnSpc>
                <a:spcPct val="100000"/>
              </a:lnSpc>
              <a:buNone/>
            </a:pPr>
            <a:r>
              <a:rPr lang="en-US" sz="500" dirty="0">
                <a:solidFill>
                  <a:srgbClr val="384653"/>
                </a:solidFill>
                <a:latin typeface="Montserrat" pitchFamily="34" charset="0"/>
                <a:ea typeface="Montserrat" pitchFamily="34" charset="-122"/>
                <a:cs typeface="Montserrat" pitchFamily="34" charset="-120"/>
              </a:rPr>
              <a:t>Combines natural mineral content, affordability, trusted quality, and wide availability.</a:t>
            </a:r>
            <a:endParaRPr lang="en-US" sz="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73943" y="452214"/>
            <a:ext cx="1092101" cy="173534"/>
          </a:xfrm>
          <a:prstGeom prst="roundRect">
            <a:avLst>
              <a:gd name="adj" fmla="val 79008"/>
            </a:avLst>
          </a:prstGeom>
          <a:solidFill>
            <a:srgbClr val="D4E9F7"/>
          </a:solidFill>
          <a:ln/>
        </p:spPr>
      </p:sp>
      <p:sp>
        <p:nvSpPr>
          <p:cNvPr id="3" name="Text 1"/>
          <p:cNvSpPr/>
          <p:nvPr/>
        </p:nvSpPr>
        <p:spPr>
          <a:xfrm>
            <a:off x="542479" y="486445"/>
            <a:ext cx="1412230" cy="105073"/>
          </a:xfrm>
          <a:prstGeom prst="rect">
            <a:avLst/>
          </a:prstGeom>
          <a:noFill/>
          <a:ln/>
        </p:spPr>
        <p:txBody>
          <a:bodyPr wrap="none" lIns="0" tIns="0" rIns="0" bIns="0" rtlCol="0" anchor="t"/>
          <a:lstStyle/>
          <a:p>
            <a:pPr algn="l" indent="0" marL="0">
              <a:lnSpc>
                <a:spcPct val="96000"/>
              </a:lnSpc>
              <a:buNone/>
            </a:pPr>
            <a:r>
              <a:rPr lang="en-US" sz="700" dirty="0">
                <a:solidFill>
                  <a:srgbClr val="384653"/>
                </a:solidFill>
                <a:latin typeface="Montserrat" pitchFamily="34" charset="0"/>
                <a:ea typeface="Montserrat" pitchFamily="34" charset="-122"/>
                <a:cs typeface="Montserrat" pitchFamily="34" charset="-120"/>
              </a:rPr>
              <a:t>CONTENT STRATEGY</a:t>
            </a:r>
            <a:endParaRPr lang="en-US" sz="700" dirty="0"/>
          </a:p>
        </p:txBody>
      </p:sp>
      <p:sp>
        <p:nvSpPr>
          <p:cNvPr id="4" name="Text 2"/>
          <p:cNvSpPr/>
          <p:nvPr/>
        </p:nvSpPr>
        <p:spPr>
          <a:xfrm>
            <a:off x="473943" y="664294"/>
            <a:ext cx="8196114" cy="375865"/>
          </a:xfrm>
          <a:prstGeom prst="rect">
            <a:avLst/>
          </a:prstGeom>
          <a:noFill/>
          <a:ln/>
        </p:spPr>
        <p:txBody>
          <a:bodyPr wrap="none" lIns="0" tIns="0" rIns="0" bIns="0" rtlCol="0" anchor="t"/>
          <a:lstStyle/>
          <a:p>
            <a:pPr algn="l" indent="0" marL="0">
              <a:lnSpc>
                <a:spcPct val="104000"/>
              </a:lnSpc>
              <a:buNone/>
            </a:pPr>
            <a:r>
              <a:rPr lang="en-US" sz="2350" b="1" dirty="0">
                <a:solidFill>
                  <a:srgbClr val="2E3C4E"/>
                </a:solidFill>
                <a:latin typeface="Barlow Bold" pitchFamily="34" charset="0"/>
                <a:ea typeface="Barlow Bold" pitchFamily="34" charset="-122"/>
                <a:cs typeface="Barlow Bold" pitchFamily="34" charset="-120"/>
              </a:rPr>
              <a:t>Content &amp; Community Engagement</a:t>
            </a:r>
            <a:endParaRPr lang="en-US" sz="2350" dirty="0"/>
          </a:p>
        </p:txBody>
      </p:sp>
      <p:pic>
        <p:nvPicPr>
          <p:cNvPr id="5" name="Image 0" descr="preencoded.png">    </p:cNvPr>
          <p:cNvPicPr>
            <a:picLocks noChangeAspect="1"/>
          </p:cNvPicPr>
          <p:nvPr/>
        </p:nvPicPr>
        <p:blipFill>
          <a:blip r:embed="rId1"/>
          <a:stretch>
            <a:fillRect/>
          </a:stretch>
        </p:blipFill>
        <p:spPr>
          <a:xfrm>
            <a:off x="473943" y="1184746"/>
            <a:ext cx="861789" cy="532581"/>
          </a:xfrm>
          <a:prstGeom prst="rect">
            <a:avLst/>
          </a:prstGeom>
        </p:spPr>
      </p:pic>
      <p:sp>
        <p:nvSpPr>
          <p:cNvPr id="6" name="Text 3"/>
          <p:cNvSpPr/>
          <p:nvPr/>
        </p:nvSpPr>
        <p:spPr>
          <a:xfrm>
            <a:off x="473943" y="1837804"/>
            <a:ext cx="1958653" cy="187896"/>
          </a:xfrm>
          <a:prstGeom prst="rect">
            <a:avLst/>
          </a:prstGeom>
          <a:noFill/>
          <a:ln/>
        </p:spPr>
        <p:txBody>
          <a:bodyPr wrap="none" lIns="0" tIns="0" rIns="0" bIns="0" rtlCol="0" anchor="t"/>
          <a:lstStyle/>
          <a:p>
            <a:pPr algn="l" indent="0" marL="0">
              <a:lnSpc>
                <a:spcPct val="104000"/>
              </a:lnSpc>
              <a:buNone/>
            </a:pPr>
            <a:r>
              <a:rPr lang="en-US" sz="1150" b="1" dirty="0">
                <a:solidFill>
                  <a:srgbClr val="384653"/>
                </a:solidFill>
                <a:latin typeface="Barlow Bold" pitchFamily="34" charset="0"/>
                <a:ea typeface="Barlow Bold" pitchFamily="34" charset="-122"/>
                <a:cs typeface="Barlow Bold" pitchFamily="34" charset="-120"/>
              </a:rPr>
              <a:t>Educational Content</a:t>
            </a:r>
            <a:endParaRPr lang="en-US" sz="1150" dirty="0"/>
          </a:p>
        </p:txBody>
      </p:sp>
      <p:sp>
        <p:nvSpPr>
          <p:cNvPr id="7" name="Text 4"/>
          <p:cNvSpPr/>
          <p:nvPr/>
        </p:nvSpPr>
        <p:spPr>
          <a:xfrm>
            <a:off x="473943" y="2083519"/>
            <a:ext cx="1958653" cy="673894"/>
          </a:xfrm>
          <a:prstGeom prst="rect">
            <a:avLst/>
          </a:prstGeom>
          <a:noFill/>
          <a:ln/>
        </p:spPr>
        <p:txBody>
          <a:bodyPr wrap="square" lIns="0" tIns="0" rIns="0" bIns="0" rtlCol="0" anchor="t">
            <a:normAutofit/>
          </a:bodyPr>
          <a:lstStyle/>
          <a:p>
            <a:pPr algn="l" indent="0" marL="0">
              <a:lnSpc>
                <a:spcPct val="123000"/>
              </a:lnSpc>
              <a:buNone/>
            </a:pPr>
            <a:r>
              <a:rPr lang="en-US" sz="850" dirty="0">
                <a:solidFill>
                  <a:srgbClr val="384653"/>
                </a:solidFill>
                <a:latin typeface="Montserrat" pitchFamily="34" charset="0"/>
                <a:ea typeface="Montserrat" pitchFamily="34" charset="-122"/>
                <a:cs typeface="Montserrat" pitchFamily="34" charset="-120"/>
              </a:rPr>
              <a:t>Share the importance of daily hydration and the role of naturally occurring minerals in supporting everyday family wellness.</a:t>
            </a:r>
            <a:endParaRPr lang="en-US" sz="850" dirty="0"/>
          </a:p>
        </p:txBody>
      </p:sp>
      <p:pic>
        <p:nvPicPr>
          <p:cNvPr id="8" name="Image 1" descr="preencoded.png">    </p:cNvPr>
          <p:cNvPicPr>
            <a:picLocks noChangeAspect="1"/>
          </p:cNvPicPr>
          <p:nvPr/>
        </p:nvPicPr>
        <p:blipFill>
          <a:blip r:embed="rId2"/>
          <a:stretch>
            <a:fillRect/>
          </a:stretch>
        </p:blipFill>
        <p:spPr>
          <a:xfrm>
            <a:off x="2553072" y="1184746"/>
            <a:ext cx="861789" cy="532581"/>
          </a:xfrm>
          <a:prstGeom prst="rect">
            <a:avLst/>
          </a:prstGeom>
        </p:spPr>
      </p:pic>
      <p:sp>
        <p:nvSpPr>
          <p:cNvPr id="9" name="Text 5"/>
          <p:cNvSpPr/>
          <p:nvPr/>
        </p:nvSpPr>
        <p:spPr>
          <a:xfrm>
            <a:off x="2553072" y="1837804"/>
            <a:ext cx="1958653" cy="187896"/>
          </a:xfrm>
          <a:prstGeom prst="rect">
            <a:avLst/>
          </a:prstGeom>
          <a:noFill/>
          <a:ln/>
        </p:spPr>
        <p:txBody>
          <a:bodyPr wrap="none" lIns="0" tIns="0" rIns="0" bIns="0" rtlCol="0" anchor="t"/>
          <a:lstStyle/>
          <a:p>
            <a:pPr algn="l" indent="0" marL="0">
              <a:lnSpc>
                <a:spcPct val="104000"/>
              </a:lnSpc>
              <a:buNone/>
            </a:pPr>
            <a:r>
              <a:rPr lang="en-US" sz="1150" b="1" dirty="0">
                <a:solidFill>
                  <a:srgbClr val="384653"/>
                </a:solidFill>
                <a:latin typeface="Barlow Bold" pitchFamily="34" charset="0"/>
                <a:ea typeface="Barlow Bold" pitchFamily="34" charset="-122"/>
                <a:cs typeface="Barlow Bold" pitchFamily="34" charset="-120"/>
              </a:rPr>
              <a:t>Family Lifestyle Content</a:t>
            </a:r>
            <a:endParaRPr lang="en-US" sz="1150" dirty="0"/>
          </a:p>
        </p:txBody>
      </p:sp>
      <p:sp>
        <p:nvSpPr>
          <p:cNvPr id="10" name="Text 6"/>
          <p:cNvSpPr/>
          <p:nvPr/>
        </p:nvSpPr>
        <p:spPr>
          <a:xfrm>
            <a:off x="2553072" y="2083519"/>
            <a:ext cx="1958653" cy="673894"/>
          </a:xfrm>
          <a:prstGeom prst="rect">
            <a:avLst/>
          </a:prstGeom>
          <a:noFill/>
          <a:ln/>
        </p:spPr>
        <p:txBody>
          <a:bodyPr wrap="square" lIns="0" tIns="0" rIns="0" bIns="0" rtlCol="0" anchor="t">
            <a:normAutofit/>
          </a:bodyPr>
          <a:lstStyle/>
          <a:p>
            <a:pPr algn="l" indent="0" marL="0">
              <a:lnSpc>
                <a:spcPct val="123000"/>
              </a:lnSpc>
              <a:buNone/>
            </a:pPr>
            <a:r>
              <a:rPr lang="en-US" sz="850" dirty="0">
                <a:solidFill>
                  <a:srgbClr val="384653"/>
                </a:solidFill>
                <a:latin typeface="Montserrat" pitchFamily="34" charset="0"/>
                <a:ea typeface="Montserrat" pitchFamily="34" charset="-122"/>
                <a:cs typeface="Montserrat" pitchFamily="34" charset="-120"/>
              </a:rPr>
              <a:t>Showcase families enjoying healthy lifestyles with AquaVital during meals, school, work, and outdoor activities.</a:t>
            </a:r>
            <a:endParaRPr lang="en-US" sz="850" dirty="0"/>
          </a:p>
        </p:txBody>
      </p:sp>
      <p:pic>
        <p:nvPicPr>
          <p:cNvPr id="11" name="Image 2" descr="preencoded.png">    </p:cNvPr>
          <p:cNvPicPr>
            <a:picLocks noChangeAspect="1"/>
          </p:cNvPicPr>
          <p:nvPr/>
        </p:nvPicPr>
        <p:blipFill>
          <a:blip r:embed="rId3"/>
          <a:stretch>
            <a:fillRect/>
          </a:stretch>
        </p:blipFill>
        <p:spPr>
          <a:xfrm>
            <a:off x="4632201" y="1184746"/>
            <a:ext cx="861789" cy="532581"/>
          </a:xfrm>
          <a:prstGeom prst="rect">
            <a:avLst/>
          </a:prstGeom>
        </p:spPr>
      </p:pic>
      <p:sp>
        <p:nvSpPr>
          <p:cNvPr id="12" name="Text 7"/>
          <p:cNvSpPr/>
          <p:nvPr/>
        </p:nvSpPr>
        <p:spPr>
          <a:xfrm>
            <a:off x="4632201" y="1837804"/>
            <a:ext cx="1958653" cy="187896"/>
          </a:xfrm>
          <a:prstGeom prst="rect">
            <a:avLst/>
          </a:prstGeom>
          <a:noFill/>
          <a:ln/>
        </p:spPr>
        <p:txBody>
          <a:bodyPr wrap="none" lIns="0" tIns="0" rIns="0" bIns="0" rtlCol="0" anchor="t"/>
          <a:lstStyle/>
          <a:p>
            <a:pPr algn="l" indent="0" marL="0">
              <a:lnSpc>
                <a:spcPct val="104000"/>
              </a:lnSpc>
              <a:buNone/>
            </a:pPr>
            <a:r>
              <a:rPr lang="en-US" sz="1150" b="1" dirty="0">
                <a:solidFill>
                  <a:srgbClr val="384653"/>
                </a:solidFill>
                <a:latin typeface="Barlow Bold" pitchFamily="34" charset="0"/>
                <a:ea typeface="Barlow Bold" pitchFamily="34" charset="-122"/>
                <a:cs typeface="Barlow Bold" pitchFamily="34" charset="-120"/>
              </a:rPr>
              <a:t>Social Media Marketing</a:t>
            </a:r>
            <a:endParaRPr lang="en-US" sz="1150" dirty="0"/>
          </a:p>
        </p:txBody>
      </p:sp>
      <p:sp>
        <p:nvSpPr>
          <p:cNvPr id="13" name="Text 8"/>
          <p:cNvSpPr/>
          <p:nvPr/>
        </p:nvSpPr>
        <p:spPr>
          <a:xfrm>
            <a:off x="4632201" y="2083519"/>
            <a:ext cx="1958653" cy="673894"/>
          </a:xfrm>
          <a:prstGeom prst="rect">
            <a:avLst/>
          </a:prstGeom>
          <a:noFill/>
          <a:ln/>
        </p:spPr>
        <p:txBody>
          <a:bodyPr wrap="square" lIns="0" tIns="0" rIns="0" bIns="0" rtlCol="0" anchor="t">
            <a:normAutofit/>
          </a:bodyPr>
          <a:lstStyle/>
          <a:p>
            <a:pPr algn="l" indent="0" marL="0">
              <a:lnSpc>
                <a:spcPct val="123000"/>
              </a:lnSpc>
              <a:buNone/>
            </a:pPr>
            <a:r>
              <a:rPr lang="en-US" sz="850" dirty="0">
                <a:solidFill>
                  <a:srgbClr val="384653"/>
                </a:solidFill>
                <a:latin typeface="Montserrat" pitchFamily="34" charset="0"/>
                <a:ea typeface="Montserrat" pitchFamily="34" charset="-122"/>
                <a:cs typeface="Montserrat" pitchFamily="34" charset="-120"/>
              </a:rPr>
              <a:t>Publish engaging posts, short videos, hydration tips, and healthy living content on Facebook, Instagram, TikTok, and YouTube.</a:t>
            </a:r>
            <a:endParaRPr lang="en-US" sz="850" dirty="0"/>
          </a:p>
        </p:txBody>
      </p:sp>
      <p:pic>
        <p:nvPicPr>
          <p:cNvPr id="14" name="Image 3" descr="preencoded.png">    </p:cNvPr>
          <p:cNvPicPr>
            <a:picLocks noChangeAspect="1"/>
          </p:cNvPicPr>
          <p:nvPr/>
        </p:nvPicPr>
        <p:blipFill>
          <a:blip r:embed="rId4"/>
          <a:stretch>
            <a:fillRect/>
          </a:stretch>
        </p:blipFill>
        <p:spPr>
          <a:xfrm>
            <a:off x="6711330" y="1184746"/>
            <a:ext cx="861789" cy="532581"/>
          </a:xfrm>
          <a:prstGeom prst="rect">
            <a:avLst/>
          </a:prstGeom>
        </p:spPr>
      </p:pic>
      <p:sp>
        <p:nvSpPr>
          <p:cNvPr id="15" name="Text 9"/>
          <p:cNvSpPr/>
          <p:nvPr/>
        </p:nvSpPr>
        <p:spPr>
          <a:xfrm>
            <a:off x="6711330" y="1837804"/>
            <a:ext cx="1958727" cy="187896"/>
          </a:xfrm>
          <a:prstGeom prst="rect">
            <a:avLst/>
          </a:prstGeom>
          <a:noFill/>
          <a:ln/>
        </p:spPr>
        <p:txBody>
          <a:bodyPr wrap="none" lIns="0" tIns="0" rIns="0" bIns="0" rtlCol="0" anchor="t"/>
          <a:lstStyle/>
          <a:p>
            <a:pPr algn="l" indent="0" marL="0">
              <a:lnSpc>
                <a:spcPct val="104000"/>
              </a:lnSpc>
              <a:buNone/>
            </a:pPr>
            <a:r>
              <a:rPr lang="en-US" sz="1150" b="1" dirty="0">
                <a:solidFill>
                  <a:srgbClr val="384653"/>
                </a:solidFill>
                <a:latin typeface="Barlow Bold" pitchFamily="34" charset="0"/>
                <a:ea typeface="Barlow Bold" pitchFamily="34" charset="-122"/>
                <a:cs typeface="Barlow Bold" pitchFamily="34" charset="-120"/>
              </a:rPr>
              <a:t>Promotional Campaigns</a:t>
            </a:r>
            <a:endParaRPr lang="en-US" sz="1150" dirty="0"/>
          </a:p>
        </p:txBody>
      </p:sp>
      <p:sp>
        <p:nvSpPr>
          <p:cNvPr id="16" name="Text 10"/>
          <p:cNvSpPr/>
          <p:nvPr/>
        </p:nvSpPr>
        <p:spPr>
          <a:xfrm>
            <a:off x="6711330" y="2083519"/>
            <a:ext cx="1958727" cy="505420"/>
          </a:xfrm>
          <a:prstGeom prst="rect">
            <a:avLst/>
          </a:prstGeom>
          <a:noFill/>
          <a:ln/>
        </p:spPr>
        <p:txBody>
          <a:bodyPr wrap="square" lIns="0" tIns="0" rIns="0" bIns="0" rtlCol="0" anchor="t">
            <a:normAutofit/>
          </a:bodyPr>
          <a:lstStyle/>
          <a:p>
            <a:pPr algn="l" indent="0" marL="0">
              <a:lnSpc>
                <a:spcPct val="123000"/>
              </a:lnSpc>
              <a:buNone/>
            </a:pPr>
            <a:r>
              <a:rPr lang="en-US" sz="850" dirty="0">
                <a:solidFill>
                  <a:srgbClr val="384653"/>
                </a:solidFill>
                <a:latin typeface="Montserrat" pitchFamily="34" charset="0"/>
                <a:ea typeface="Montserrat" pitchFamily="34" charset="-122"/>
                <a:cs typeface="Montserrat" pitchFamily="34" charset="-120"/>
              </a:rPr>
              <a:t>Highlight bundle promotions, supermarket discounts, and festive family value packs.</a:t>
            </a:r>
            <a:endParaRPr lang="en-US" sz="850" dirty="0"/>
          </a:p>
        </p:txBody>
      </p:sp>
      <p:pic>
        <p:nvPicPr>
          <p:cNvPr id="17" name="Image 4" descr="preencoded.png">    </p:cNvPr>
          <p:cNvPicPr>
            <a:picLocks noChangeAspect="1"/>
          </p:cNvPicPr>
          <p:nvPr/>
        </p:nvPicPr>
        <p:blipFill>
          <a:blip r:embed="rId5"/>
          <a:stretch>
            <a:fillRect/>
          </a:stretch>
        </p:blipFill>
        <p:spPr>
          <a:xfrm>
            <a:off x="473943" y="2950146"/>
            <a:ext cx="861789" cy="532581"/>
          </a:xfrm>
          <a:prstGeom prst="rect">
            <a:avLst/>
          </a:prstGeom>
        </p:spPr>
      </p:pic>
      <p:sp>
        <p:nvSpPr>
          <p:cNvPr id="18" name="Text 11"/>
          <p:cNvSpPr/>
          <p:nvPr/>
        </p:nvSpPr>
        <p:spPr>
          <a:xfrm>
            <a:off x="473943" y="3603203"/>
            <a:ext cx="1958653" cy="187896"/>
          </a:xfrm>
          <a:prstGeom prst="rect">
            <a:avLst/>
          </a:prstGeom>
          <a:noFill/>
          <a:ln/>
        </p:spPr>
        <p:txBody>
          <a:bodyPr wrap="none" lIns="0" tIns="0" rIns="0" bIns="0" rtlCol="0" anchor="t"/>
          <a:lstStyle/>
          <a:p>
            <a:pPr algn="l" indent="0" marL="0">
              <a:lnSpc>
                <a:spcPct val="104000"/>
              </a:lnSpc>
              <a:buNone/>
            </a:pPr>
            <a:r>
              <a:rPr lang="en-US" sz="1150" b="1" dirty="0">
                <a:solidFill>
                  <a:srgbClr val="384653"/>
                </a:solidFill>
                <a:latin typeface="Barlow Bold" pitchFamily="34" charset="0"/>
                <a:ea typeface="Barlow Bold" pitchFamily="34" charset="-122"/>
                <a:cs typeface="Barlow Bold" pitchFamily="34" charset="-120"/>
              </a:rPr>
              <a:t>Community Engagement</a:t>
            </a:r>
            <a:endParaRPr lang="en-US" sz="1150" dirty="0"/>
          </a:p>
        </p:txBody>
      </p:sp>
      <p:sp>
        <p:nvSpPr>
          <p:cNvPr id="19" name="Text 12"/>
          <p:cNvSpPr/>
          <p:nvPr/>
        </p:nvSpPr>
        <p:spPr>
          <a:xfrm>
            <a:off x="473943" y="3848919"/>
            <a:ext cx="1958653" cy="842367"/>
          </a:xfrm>
          <a:prstGeom prst="rect">
            <a:avLst/>
          </a:prstGeom>
          <a:noFill/>
          <a:ln/>
        </p:spPr>
        <p:txBody>
          <a:bodyPr wrap="square" lIns="0" tIns="0" rIns="0" bIns="0" rtlCol="0" anchor="t">
            <a:normAutofit/>
          </a:bodyPr>
          <a:lstStyle/>
          <a:p>
            <a:pPr algn="l" indent="0" marL="0">
              <a:lnSpc>
                <a:spcPct val="123000"/>
              </a:lnSpc>
              <a:buNone/>
            </a:pPr>
            <a:r>
              <a:rPr lang="en-US" sz="850" dirty="0">
                <a:solidFill>
                  <a:srgbClr val="384653"/>
                </a:solidFill>
                <a:latin typeface="Montserrat" pitchFamily="34" charset="0"/>
                <a:ea typeface="Montserrat" pitchFamily="34" charset="-122"/>
                <a:cs typeface="Montserrat" pitchFamily="34" charset="-120"/>
              </a:rPr>
              <a:t>Sponsor school activities, community health programmes, family fun runs, and wellness events to build trust and brand recognition.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73943" y="372368"/>
            <a:ext cx="481087" cy="102766"/>
          </a:xfrm>
          <a:prstGeom prst="roundRect">
            <a:avLst>
              <a:gd name="adj" fmla="val 79062"/>
            </a:avLst>
          </a:prstGeom>
          <a:solidFill>
            <a:srgbClr val="D4E9F7"/>
          </a:solidFill>
          <a:ln/>
        </p:spPr>
      </p:sp>
      <p:sp>
        <p:nvSpPr>
          <p:cNvPr id="3" name="Text 1"/>
          <p:cNvSpPr/>
          <p:nvPr/>
        </p:nvSpPr>
        <p:spPr>
          <a:xfrm>
            <a:off x="514499" y="392609"/>
            <a:ext cx="857176" cy="62285"/>
          </a:xfrm>
          <a:prstGeom prst="rect">
            <a:avLst/>
          </a:prstGeom>
          <a:noFill/>
          <a:ln/>
        </p:spPr>
        <p:txBody>
          <a:bodyPr wrap="none" lIns="0" tIns="0" rIns="0" bIns="0" rtlCol="0" anchor="t"/>
          <a:lstStyle/>
          <a:p>
            <a:pPr algn="l" indent="0" marL="0">
              <a:lnSpc>
                <a:spcPct val="96000"/>
              </a:lnSpc>
              <a:buNone/>
            </a:pPr>
            <a:r>
              <a:rPr lang="en-US" sz="400" dirty="0">
                <a:solidFill>
                  <a:srgbClr val="384653"/>
                </a:solidFill>
                <a:latin typeface="Montserrat" pitchFamily="34" charset="0"/>
                <a:ea typeface="Montserrat" pitchFamily="34" charset="-122"/>
                <a:cs typeface="Montserrat" pitchFamily="34" charset="-120"/>
              </a:rPr>
              <a:t>DISTRIBUTION</a:t>
            </a:r>
            <a:endParaRPr lang="en-US" sz="400" dirty="0"/>
          </a:p>
        </p:txBody>
      </p:sp>
      <p:sp>
        <p:nvSpPr>
          <p:cNvPr id="4" name="Text 2"/>
          <p:cNvSpPr/>
          <p:nvPr/>
        </p:nvSpPr>
        <p:spPr>
          <a:xfrm>
            <a:off x="473943" y="488603"/>
            <a:ext cx="8196114" cy="222647"/>
          </a:xfrm>
          <a:prstGeom prst="rect">
            <a:avLst/>
          </a:prstGeom>
          <a:noFill/>
          <a:ln/>
        </p:spPr>
        <p:txBody>
          <a:bodyPr wrap="none" lIns="0" tIns="0" rIns="0" bIns="0" rtlCol="0" anchor="t"/>
          <a:lstStyle/>
          <a:p>
            <a:pPr algn="l" indent="0" marL="0">
              <a:lnSpc>
                <a:spcPct val="104000"/>
              </a:lnSpc>
              <a:buNone/>
            </a:pPr>
            <a:r>
              <a:rPr lang="en-US" sz="1400" b="1" dirty="0">
                <a:solidFill>
                  <a:srgbClr val="2E3C4E"/>
                </a:solidFill>
                <a:latin typeface="Barlow Bold" pitchFamily="34" charset="0"/>
                <a:ea typeface="Barlow Bold" pitchFamily="34" charset="-122"/>
                <a:cs typeface="Barlow Bold" pitchFamily="34" charset="-120"/>
              </a:rPr>
              <a:t>Distribution Channels</a:t>
            </a:r>
            <a:endParaRPr lang="en-US" sz="1400" dirty="0"/>
          </a:p>
        </p:txBody>
      </p:sp>
      <p:sp>
        <p:nvSpPr>
          <p:cNvPr id="5" name="Text 3"/>
          <p:cNvSpPr/>
          <p:nvPr/>
        </p:nvSpPr>
        <p:spPr>
          <a:xfrm>
            <a:off x="473943" y="2211809"/>
            <a:ext cx="2761208" cy="162520"/>
          </a:xfrm>
          <a:prstGeom prst="rect">
            <a:avLst/>
          </a:prstGeom>
          <a:noFill/>
          <a:ln/>
        </p:spPr>
        <p:txBody>
          <a:bodyPr wrap="square" lIns="0" tIns="0" rIns="0" bIns="0" rtlCol="0" anchor="t">
            <a:normAutofit/>
          </a:bodyPr>
          <a:lstStyle/>
          <a:p>
            <a:pPr algn="l" indent="0" marL="0">
              <a:lnSpc>
                <a:spcPct val="100000"/>
              </a:lnSpc>
              <a:buNone/>
            </a:pPr>
            <a:r>
              <a:rPr lang="en-US" sz="500" dirty="0">
                <a:solidFill>
                  <a:srgbClr val="384653"/>
                </a:solidFill>
                <a:latin typeface="Montserrat" pitchFamily="34" charset="0"/>
                <a:ea typeface="Montserrat" pitchFamily="34" charset="-122"/>
                <a:cs typeface="Montserrat" pitchFamily="34" charset="-120"/>
              </a:rPr>
              <a:t>AquaVital reaches families through every touchpoint — from weekly grocery shops to on-the-go purchases.</a:t>
            </a:r>
            <a:endParaRPr lang="en-US" sz="500" dirty="0"/>
          </a:p>
        </p:txBody>
      </p:sp>
      <p:pic>
        <p:nvPicPr>
          <p:cNvPr id="6" name="Image 0" descr="preencoded.png">    </p:cNvPr>
          <p:cNvPicPr>
            <a:picLocks noChangeAspect="1"/>
          </p:cNvPicPr>
          <p:nvPr/>
        </p:nvPicPr>
        <p:blipFill>
          <a:blip r:embed="rId1"/>
          <a:stretch>
            <a:fillRect/>
          </a:stretch>
        </p:blipFill>
        <p:spPr>
          <a:xfrm>
            <a:off x="3405113" y="800026"/>
            <a:ext cx="5269632" cy="2986088"/>
          </a:xfrm>
          <a:prstGeom prst="rect">
            <a:avLst/>
          </a:prstGeom>
        </p:spPr>
      </p:pic>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9318" y="3864211"/>
            <a:ext cx="101501" cy="101501"/>
          </a:xfrm>
          <a:prstGeom prst="rect">
            <a:avLst/>
          </a:prstGeom>
        </p:spPr>
      </p:pic>
      <p:sp>
        <p:nvSpPr>
          <p:cNvPr id="8" name="Text 4"/>
          <p:cNvSpPr/>
          <p:nvPr/>
        </p:nvSpPr>
        <p:spPr>
          <a:xfrm>
            <a:off x="693911" y="3862164"/>
            <a:ext cx="7976146" cy="111323"/>
          </a:xfrm>
          <a:prstGeom prst="rect">
            <a:avLst/>
          </a:prstGeom>
          <a:noFill/>
          <a:ln/>
        </p:spPr>
        <p:txBody>
          <a:bodyPr wrap="none" lIns="0" tIns="0" rIns="0" bIns="0" rtlCol="0" anchor="t"/>
          <a:lstStyle/>
          <a:p>
            <a:pPr algn="l" indent="0" marL="0">
              <a:lnSpc>
                <a:spcPct val="104000"/>
              </a:lnSpc>
              <a:buNone/>
            </a:pPr>
            <a:r>
              <a:rPr lang="en-US" sz="700" b="1" dirty="0">
                <a:solidFill>
                  <a:srgbClr val="384653"/>
                </a:solidFill>
                <a:latin typeface="Barlow Bold" pitchFamily="34" charset="0"/>
                <a:ea typeface="Barlow Bold" pitchFamily="34" charset="-122"/>
                <a:cs typeface="Barlow Bold" pitchFamily="34" charset="-120"/>
              </a:rPr>
              <a:t>Supermarkets</a:t>
            </a:r>
            <a:endParaRPr lang="en-US" sz="700" dirty="0"/>
          </a:p>
        </p:txBody>
      </p:sp>
      <p:sp>
        <p:nvSpPr>
          <p:cNvPr id="9" name="Text 5"/>
          <p:cNvSpPr/>
          <p:nvPr/>
        </p:nvSpPr>
        <p:spPr>
          <a:xfrm>
            <a:off x="693911" y="3993728"/>
            <a:ext cx="7976146" cy="81260"/>
          </a:xfrm>
          <a:prstGeom prst="rect">
            <a:avLst/>
          </a:prstGeom>
          <a:noFill/>
          <a:ln/>
        </p:spPr>
        <p:txBody>
          <a:bodyPr wrap="none" lIns="0" tIns="0" rIns="0" bIns="0" rtlCol="0" anchor="t"/>
          <a:lstStyle/>
          <a:p>
            <a:pPr algn="l" indent="0" marL="0">
              <a:lnSpc>
                <a:spcPct val="100000"/>
              </a:lnSpc>
              <a:buNone/>
            </a:pPr>
            <a:r>
              <a:rPr lang="en-US" sz="500" dirty="0">
                <a:solidFill>
                  <a:srgbClr val="384653"/>
                </a:solidFill>
                <a:latin typeface="Montserrat" pitchFamily="34" charset="0"/>
                <a:ea typeface="Montserrat" pitchFamily="34" charset="-122"/>
                <a:cs typeface="Montserrat" pitchFamily="34" charset="-120"/>
              </a:rPr>
              <a:t>Primary retail channel for weekly family grocery shopping.</a:t>
            </a:r>
            <a:endParaRPr lang="en-US" sz="500" dirty="0"/>
          </a:p>
        </p:txBody>
      </p:sp>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9318" y="4144677"/>
            <a:ext cx="101501" cy="101501"/>
          </a:xfrm>
          <a:prstGeom prst="rect">
            <a:avLst/>
          </a:prstGeom>
        </p:spPr>
      </p:pic>
      <p:sp>
        <p:nvSpPr>
          <p:cNvPr id="11" name="Text 6"/>
          <p:cNvSpPr/>
          <p:nvPr/>
        </p:nvSpPr>
        <p:spPr>
          <a:xfrm>
            <a:off x="693911" y="4142631"/>
            <a:ext cx="7976146" cy="111323"/>
          </a:xfrm>
          <a:prstGeom prst="rect">
            <a:avLst/>
          </a:prstGeom>
          <a:noFill/>
          <a:ln/>
        </p:spPr>
        <p:txBody>
          <a:bodyPr wrap="none" lIns="0" tIns="0" rIns="0" bIns="0" rtlCol="0" anchor="t"/>
          <a:lstStyle/>
          <a:p>
            <a:pPr algn="l" indent="0" marL="0">
              <a:lnSpc>
                <a:spcPct val="104000"/>
              </a:lnSpc>
              <a:buNone/>
            </a:pPr>
            <a:r>
              <a:rPr lang="en-US" sz="700" b="1" dirty="0">
                <a:solidFill>
                  <a:srgbClr val="384653"/>
                </a:solidFill>
                <a:latin typeface="Barlow Bold" pitchFamily="34" charset="0"/>
                <a:ea typeface="Barlow Bold" pitchFamily="34" charset="-122"/>
                <a:cs typeface="Barlow Bold" pitchFamily="34" charset="-120"/>
              </a:rPr>
              <a:t>Minimarts &amp; Convenience Stores</a:t>
            </a:r>
            <a:endParaRPr lang="en-US" sz="700" dirty="0"/>
          </a:p>
        </p:txBody>
      </p:sp>
      <p:sp>
        <p:nvSpPr>
          <p:cNvPr id="12" name="Text 7"/>
          <p:cNvSpPr/>
          <p:nvPr/>
        </p:nvSpPr>
        <p:spPr>
          <a:xfrm>
            <a:off x="693911" y="4274195"/>
            <a:ext cx="7976146" cy="81260"/>
          </a:xfrm>
          <a:prstGeom prst="rect">
            <a:avLst/>
          </a:prstGeom>
          <a:noFill/>
          <a:ln/>
        </p:spPr>
        <p:txBody>
          <a:bodyPr wrap="none" lIns="0" tIns="0" rIns="0" bIns="0" rtlCol="0" anchor="t"/>
          <a:lstStyle/>
          <a:p>
            <a:pPr algn="l" indent="0" marL="0">
              <a:lnSpc>
                <a:spcPct val="100000"/>
              </a:lnSpc>
              <a:buNone/>
            </a:pPr>
            <a:r>
              <a:rPr lang="en-US" sz="500" dirty="0">
                <a:solidFill>
                  <a:srgbClr val="384653"/>
                </a:solidFill>
                <a:latin typeface="Montserrat" pitchFamily="34" charset="0"/>
                <a:ea typeface="Montserrat" pitchFamily="34" charset="-122"/>
                <a:cs typeface="Montserrat" pitchFamily="34" charset="-120"/>
              </a:rPr>
              <a:t>Convenient access for local communities and quick purchases during commuting.</a:t>
            </a:r>
            <a:endParaRPr lang="en-US" sz="500" dirty="0"/>
          </a:p>
        </p:txBody>
      </p:sp>
      <p:pic>
        <p:nvPicPr>
          <p:cNvPr id="1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9318" y="4425144"/>
            <a:ext cx="101501" cy="101501"/>
          </a:xfrm>
          <a:prstGeom prst="rect">
            <a:avLst/>
          </a:prstGeom>
        </p:spPr>
      </p:pic>
      <p:sp>
        <p:nvSpPr>
          <p:cNvPr id="14" name="Text 8"/>
          <p:cNvSpPr/>
          <p:nvPr/>
        </p:nvSpPr>
        <p:spPr>
          <a:xfrm>
            <a:off x="693911" y="4423097"/>
            <a:ext cx="7976146" cy="111323"/>
          </a:xfrm>
          <a:prstGeom prst="rect">
            <a:avLst/>
          </a:prstGeom>
          <a:noFill/>
          <a:ln/>
        </p:spPr>
        <p:txBody>
          <a:bodyPr wrap="none" lIns="0" tIns="0" rIns="0" bIns="0" rtlCol="0" anchor="t"/>
          <a:lstStyle/>
          <a:p>
            <a:pPr algn="l" indent="0" marL="0">
              <a:lnSpc>
                <a:spcPct val="104000"/>
              </a:lnSpc>
              <a:buNone/>
            </a:pPr>
            <a:r>
              <a:rPr lang="en-US" sz="700" b="1" dirty="0">
                <a:solidFill>
                  <a:srgbClr val="384653"/>
                </a:solidFill>
                <a:latin typeface="Barlow Bold" pitchFamily="34" charset="0"/>
                <a:ea typeface="Barlow Bold" pitchFamily="34" charset="-122"/>
                <a:cs typeface="Barlow Bold" pitchFamily="34" charset="-120"/>
              </a:rPr>
              <a:t>Online Grocery Platforms</a:t>
            </a:r>
            <a:endParaRPr lang="en-US" sz="700" dirty="0"/>
          </a:p>
        </p:txBody>
      </p:sp>
      <p:sp>
        <p:nvSpPr>
          <p:cNvPr id="15" name="Text 9"/>
          <p:cNvSpPr/>
          <p:nvPr/>
        </p:nvSpPr>
        <p:spPr>
          <a:xfrm>
            <a:off x="693911" y="4554662"/>
            <a:ext cx="7976146" cy="81260"/>
          </a:xfrm>
          <a:prstGeom prst="rect">
            <a:avLst/>
          </a:prstGeom>
          <a:noFill/>
          <a:ln/>
        </p:spPr>
        <p:txBody>
          <a:bodyPr wrap="none" lIns="0" tIns="0" rIns="0" bIns="0" rtlCol="0" anchor="t"/>
          <a:lstStyle/>
          <a:p>
            <a:pPr algn="l" indent="0" marL="0">
              <a:lnSpc>
                <a:spcPct val="100000"/>
              </a:lnSpc>
              <a:buNone/>
            </a:pPr>
            <a:r>
              <a:rPr lang="en-US" sz="500" dirty="0">
                <a:solidFill>
                  <a:srgbClr val="384653"/>
                </a:solidFill>
                <a:latin typeface="Montserrat" pitchFamily="34" charset="0"/>
                <a:ea typeface="Montserrat" pitchFamily="34" charset="-122"/>
                <a:cs typeface="Montserrat" pitchFamily="34" charset="-120"/>
              </a:rPr>
              <a:t>Home delivery and recurring household purchases.</a:t>
            </a:r>
            <a:endParaRPr lang="en-US" sz="500" dirty="0"/>
          </a:p>
        </p:txBody>
      </p:sp>
      <p:pic>
        <p:nvPicPr>
          <p:cNvPr id="1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9318" y="4705610"/>
            <a:ext cx="101501" cy="101501"/>
          </a:xfrm>
          <a:prstGeom prst="rect">
            <a:avLst/>
          </a:prstGeom>
        </p:spPr>
      </p:pic>
      <p:sp>
        <p:nvSpPr>
          <p:cNvPr id="17" name="Text 10"/>
          <p:cNvSpPr/>
          <p:nvPr/>
        </p:nvSpPr>
        <p:spPr>
          <a:xfrm>
            <a:off x="693911" y="4703564"/>
            <a:ext cx="7976146" cy="111323"/>
          </a:xfrm>
          <a:prstGeom prst="rect">
            <a:avLst/>
          </a:prstGeom>
          <a:noFill/>
          <a:ln/>
        </p:spPr>
        <p:txBody>
          <a:bodyPr wrap="none" lIns="0" tIns="0" rIns="0" bIns="0" rtlCol="0" anchor="t"/>
          <a:lstStyle/>
          <a:p>
            <a:pPr algn="l" indent="0" marL="0">
              <a:lnSpc>
                <a:spcPct val="104000"/>
              </a:lnSpc>
              <a:buNone/>
            </a:pPr>
            <a:r>
              <a:rPr lang="en-US" sz="700" b="1" dirty="0">
                <a:solidFill>
                  <a:srgbClr val="384653"/>
                </a:solidFill>
                <a:latin typeface="Barlow Bold" pitchFamily="34" charset="0"/>
                <a:ea typeface="Barlow Bold" pitchFamily="34" charset="-122"/>
                <a:cs typeface="Barlow Bold" pitchFamily="34" charset="-120"/>
              </a:rPr>
              <a:t>Vending Machines</a:t>
            </a:r>
            <a:endParaRPr lang="en-US" sz="700" dirty="0"/>
          </a:p>
        </p:txBody>
      </p:sp>
      <p:sp>
        <p:nvSpPr>
          <p:cNvPr id="18" name="Text 11"/>
          <p:cNvSpPr/>
          <p:nvPr/>
        </p:nvSpPr>
        <p:spPr>
          <a:xfrm>
            <a:off x="693911" y="4835128"/>
            <a:ext cx="7976146" cy="81260"/>
          </a:xfrm>
          <a:prstGeom prst="rect">
            <a:avLst/>
          </a:prstGeom>
          <a:noFill/>
          <a:ln/>
        </p:spPr>
        <p:txBody>
          <a:bodyPr wrap="none" lIns="0" tIns="0" rIns="0" bIns="0" rtlCol="0" anchor="t"/>
          <a:lstStyle/>
          <a:p>
            <a:pPr algn="l" indent="0" marL="0">
              <a:lnSpc>
                <a:spcPct val="100000"/>
              </a:lnSpc>
              <a:buNone/>
            </a:pPr>
            <a:r>
              <a:rPr lang="en-US" sz="500" dirty="0">
                <a:solidFill>
                  <a:srgbClr val="384653"/>
                </a:solidFill>
                <a:latin typeface="Montserrat" pitchFamily="34" charset="0"/>
                <a:ea typeface="Montserrat" pitchFamily="34" charset="-122"/>
                <a:cs typeface="Montserrat" pitchFamily="34" charset="-120"/>
              </a:rPr>
              <a:t>Convenient hydration at schools, offices, and transport hubs.</a:t>
            </a:r>
            <a:endParaRPr lang="en-US" sz="500" dirty="0"/>
          </a:p>
        </p:txBody>
      </p:sp>
      <p:pic>
        <p:nvPicPr>
          <p:cNvPr id="19"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99318" y="4986077"/>
            <a:ext cx="101501" cy="101501"/>
          </a:xfrm>
          <a:prstGeom prst="rect">
            <a:avLst/>
          </a:prstGeom>
        </p:spPr>
      </p:pic>
      <p:sp>
        <p:nvSpPr>
          <p:cNvPr id="20" name="Text 12"/>
          <p:cNvSpPr/>
          <p:nvPr/>
        </p:nvSpPr>
        <p:spPr>
          <a:xfrm>
            <a:off x="693911" y="4984031"/>
            <a:ext cx="7976146" cy="111323"/>
          </a:xfrm>
          <a:prstGeom prst="rect">
            <a:avLst/>
          </a:prstGeom>
          <a:noFill/>
          <a:ln/>
        </p:spPr>
        <p:txBody>
          <a:bodyPr wrap="none" lIns="0" tIns="0" rIns="0" bIns="0" rtlCol="0" anchor="t"/>
          <a:lstStyle/>
          <a:p>
            <a:pPr algn="l" indent="0" marL="0">
              <a:lnSpc>
                <a:spcPct val="104000"/>
              </a:lnSpc>
              <a:buNone/>
            </a:pPr>
            <a:r>
              <a:rPr lang="en-US" sz="700" b="1" dirty="0">
                <a:solidFill>
                  <a:srgbClr val="384653"/>
                </a:solidFill>
                <a:latin typeface="Barlow Bold" pitchFamily="34" charset="0"/>
                <a:ea typeface="Barlow Bold" pitchFamily="34" charset="-122"/>
                <a:cs typeface="Barlow Bold" pitchFamily="34" charset="-120"/>
              </a:rPr>
              <a:t>Schools, Community Centres &amp; Sports Facilities</a:t>
            </a:r>
            <a:endParaRPr lang="en-US" sz="700" dirty="0"/>
          </a:p>
        </p:txBody>
      </p:sp>
      <p:sp>
        <p:nvSpPr>
          <p:cNvPr id="21" name="Text 13"/>
          <p:cNvSpPr/>
          <p:nvPr/>
        </p:nvSpPr>
        <p:spPr>
          <a:xfrm>
            <a:off x="693911" y="5115595"/>
            <a:ext cx="7976146" cy="81260"/>
          </a:xfrm>
          <a:prstGeom prst="rect">
            <a:avLst/>
          </a:prstGeom>
          <a:noFill/>
          <a:ln/>
        </p:spPr>
        <p:txBody>
          <a:bodyPr wrap="none" lIns="0" tIns="0" rIns="0" bIns="0" rtlCol="0" anchor="t"/>
          <a:lstStyle/>
          <a:p>
            <a:pPr algn="l" indent="0" marL="0">
              <a:lnSpc>
                <a:spcPct val="100000"/>
              </a:lnSpc>
              <a:buNone/>
            </a:pPr>
            <a:r>
              <a:rPr lang="en-US" sz="500" dirty="0">
                <a:solidFill>
                  <a:srgbClr val="384653"/>
                </a:solidFill>
                <a:latin typeface="Montserrat" pitchFamily="34" charset="0"/>
                <a:ea typeface="Montserrat" pitchFamily="34" charset="-122"/>
                <a:cs typeface="Montserrat" pitchFamily="34" charset="-120"/>
              </a:rPr>
              <a:t>Support family-oriented community activities and reach consumers seeking convenient hydration during physical activities.</a:t>
            </a:r>
            <a:endParaRPr lang="en-US" sz="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73943" y="383753"/>
            <a:ext cx="914326" cy="180008"/>
          </a:xfrm>
          <a:prstGeom prst="roundRect">
            <a:avLst>
              <a:gd name="adj" fmla="val 78988"/>
            </a:avLst>
          </a:prstGeom>
          <a:solidFill>
            <a:srgbClr val="D4E9F7"/>
          </a:solidFill>
          <a:ln/>
        </p:spPr>
      </p:sp>
      <p:sp>
        <p:nvSpPr>
          <p:cNvPr id="3" name="Text 1"/>
          <p:cNvSpPr/>
          <p:nvPr/>
        </p:nvSpPr>
        <p:spPr>
          <a:xfrm>
            <a:off x="545009" y="419249"/>
            <a:ext cx="1229395" cy="109017"/>
          </a:xfrm>
          <a:prstGeom prst="rect">
            <a:avLst/>
          </a:prstGeom>
          <a:noFill/>
          <a:ln/>
        </p:spPr>
        <p:txBody>
          <a:bodyPr wrap="none" lIns="0" tIns="0" rIns="0" bIns="0" rtlCol="0" anchor="t"/>
          <a:lstStyle/>
          <a:p>
            <a:pPr algn="l" indent="0" marL="0">
              <a:lnSpc>
                <a:spcPct val="96000"/>
              </a:lnSpc>
              <a:buNone/>
            </a:pPr>
            <a:r>
              <a:rPr lang="en-US" sz="700" dirty="0">
                <a:solidFill>
                  <a:srgbClr val="384653"/>
                </a:solidFill>
                <a:latin typeface="Montserrat" pitchFamily="34" charset="0"/>
                <a:ea typeface="Montserrat" pitchFamily="34" charset="-122"/>
                <a:cs typeface="Montserrat" pitchFamily="34" charset="-120"/>
              </a:rPr>
              <a:t>MEASUREMENT</a:t>
            </a:r>
            <a:endParaRPr lang="en-US" sz="700" dirty="0"/>
          </a:p>
        </p:txBody>
      </p:sp>
      <p:sp>
        <p:nvSpPr>
          <p:cNvPr id="4" name="Text 2"/>
          <p:cNvSpPr/>
          <p:nvPr/>
        </p:nvSpPr>
        <p:spPr>
          <a:xfrm>
            <a:off x="473943" y="605210"/>
            <a:ext cx="8196114" cy="389706"/>
          </a:xfrm>
          <a:prstGeom prst="rect">
            <a:avLst/>
          </a:prstGeom>
          <a:noFill/>
          <a:ln/>
        </p:spPr>
        <p:txBody>
          <a:bodyPr wrap="none" lIns="0" tIns="0" rIns="0" bIns="0" rtlCol="0" anchor="t"/>
          <a:lstStyle/>
          <a:p>
            <a:pPr algn="l" indent="0" marL="0">
              <a:lnSpc>
                <a:spcPct val="104000"/>
              </a:lnSpc>
              <a:buNone/>
            </a:pPr>
            <a:r>
              <a:rPr lang="en-US" sz="2450" b="1" dirty="0">
                <a:solidFill>
                  <a:srgbClr val="2E3C4E"/>
                </a:solidFill>
                <a:latin typeface="Barlow Bold" pitchFamily="34" charset="0"/>
                <a:ea typeface="Barlow Bold" pitchFamily="34" charset="-122"/>
                <a:cs typeface="Barlow Bold" pitchFamily="34" charset="-120"/>
              </a:rPr>
              <a:t>Metrics &amp; Performance Targets</a:t>
            </a:r>
            <a:endParaRPr lang="en-US" sz="2450" dirty="0"/>
          </a:p>
        </p:txBody>
      </p:sp>
      <p:sp>
        <p:nvSpPr>
          <p:cNvPr id="5" name="Text 3"/>
          <p:cNvSpPr/>
          <p:nvPr/>
        </p:nvSpPr>
        <p:spPr>
          <a:xfrm>
            <a:off x="473943" y="1209601"/>
            <a:ext cx="4033242" cy="390971"/>
          </a:xfrm>
          <a:prstGeom prst="rect">
            <a:avLst/>
          </a:prstGeom>
          <a:noFill/>
          <a:ln/>
        </p:spPr>
        <p:txBody>
          <a:bodyPr wrap="none" lIns="0" tIns="0" rIns="0" bIns="0" rtlCol="0" anchor="t"/>
          <a:lstStyle/>
          <a:p>
            <a:pPr algn="ctr" indent="0" marL="0">
              <a:lnSpc>
                <a:spcPct val="83000"/>
              </a:lnSpc>
              <a:buNone/>
            </a:pPr>
            <a:r>
              <a:rPr lang="en-US" sz="3050" b="1" dirty="0">
                <a:solidFill>
                  <a:srgbClr val="384653"/>
                </a:solidFill>
                <a:latin typeface="Barlow Bold" pitchFamily="34" charset="0"/>
                <a:ea typeface="Barlow Bold" pitchFamily="34" charset="-122"/>
                <a:cs typeface="Barlow Bold" pitchFamily="34" charset="-120"/>
              </a:rPr>
              <a:t>60%</a:t>
            </a:r>
            <a:endParaRPr lang="en-US" sz="3050" dirty="0"/>
          </a:p>
        </p:txBody>
      </p:sp>
      <p:sp>
        <p:nvSpPr>
          <p:cNvPr id="6" name="Text 4"/>
          <p:cNvSpPr/>
          <p:nvPr/>
        </p:nvSpPr>
        <p:spPr>
          <a:xfrm>
            <a:off x="473943" y="1737494"/>
            <a:ext cx="4033242" cy="194816"/>
          </a:xfrm>
          <a:prstGeom prst="rect">
            <a:avLst/>
          </a:prstGeom>
          <a:noFill/>
          <a:ln/>
        </p:spPr>
        <p:txBody>
          <a:bodyPr wrap="none" lIns="0" tIns="0" rIns="0" bIns="0" rtlCol="0" anchor="t"/>
          <a:lstStyle/>
          <a:p>
            <a:pPr algn="ctr" indent="0" marL="0">
              <a:lnSpc>
                <a:spcPct val="104000"/>
              </a:lnSpc>
              <a:buNone/>
            </a:pPr>
            <a:r>
              <a:rPr lang="en-US" sz="1200" b="1" dirty="0">
                <a:solidFill>
                  <a:srgbClr val="384653"/>
                </a:solidFill>
                <a:latin typeface="Barlow Bold" pitchFamily="34" charset="0"/>
                <a:ea typeface="Barlow Bold" pitchFamily="34" charset="-122"/>
                <a:cs typeface="Barlow Bold" pitchFamily="34" charset="-120"/>
              </a:rPr>
              <a:t>Brand Awareness</a:t>
            </a:r>
            <a:endParaRPr lang="en-US" sz="1200" dirty="0"/>
          </a:p>
        </p:txBody>
      </p:sp>
      <p:sp>
        <p:nvSpPr>
          <p:cNvPr id="7" name="Text 5"/>
          <p:cNvSpPr/>
          <p:nvPr/>
        </p:nvSpPr>
        <p:spPr>
          <a:xfrm>
            <a:off x="473943" y="1994446"/>
            <a:ext cx="4033242" cy="177701"/>
          </a:xfrm>
          <a:prstGeom prst="rect">
            <a:avLst/>
          </a:prstGeom>
          <a:noFill/>
          <a:ln/>
        </p:spPr>
        <p:txBody>
          <a:bodyPr wrap="none" lIns="0" tIns="0" rIns="0" bIns="0" rtlCol="0" anchor="t"/>
          <a:lstStyle/>
          <a:p>
            <a:pPr algn="ctr" indent="0" marL="0">
              <a:lnSpc>
                <a:spcPct val="125000"/>
              </a:lnSpc>
              <a:buNone/>
            </a:pPr>
            <a:r>
              <a:rPr lang="en-US" sz="900" dirty="0">
                <a:solidFill>
                  <a:srgbClr val="384653"/>
                </a:solidFill>
                <a:latin typeface="Montserrat" pitchFamily="34" charset="0"/>
                <a:ea typeface="Montserrat" pitchFamily="34" charset="-122"/>
                <a:cs typeface="Montserrat" pitchFamily="34" charset="-120"/>
              </a:rPr>
              <a:t>Aided brand awareness target within 12 months.</a:t>
            </a:r>
            <a:endParaRPr lang="en-US" sz="900" dirty="0"/>
          </a:p>
        </p:txBody>
      </p:sp>
      <p:sp>
        <p:nvSpPr>
          <p:cNvPr id="8" name="Text 6"/>
          <p:cNvSpPr/>
          <p:nvPr/>
        </p:nvSpPr>
        <p:spPr>
          <a:xfrm>
            <a:off x="4636740" y="1209601"/>
            <a:ext cx="4033317" cy="390971"/>
          </a:xfrm>
          <a:prstGeom prst="rect">
            <a:avLst/>
          </a:prstGeom>
          <a:noFill/>
          <a:ln/>
        </p:spPr>
        <p:txBody>
          <a:bodyPr wrap="none" lIns="0" tIns="0" rIns="0" bIns="0" rtlCol="0" anchor="t"/>
          <a:lstStyle/>
          <a:p>
            <a:pPr algn="ctr" indent="0" marL="0">
              <a:lnSpc>
                <a:spcPct val="83000"/>
              </a:lnSpc>
              <a:buNone/>
            </a:pPr>
            <a:r>
              <a:rPr lang="en-US" sz="3050" b="1" dirty="0">
                <a:solidFill>
                  <a:srgbClr val="384653"/>
                </a:solidFill>
                <a:latin typeface="Barlow Bold" pitchFamily="34" charset="0"/>
                <a:ea typeface="Barlow Bold" pitchFamily="34" charset="-122"/>
                <a:cs typeface="Barlow Bold" pitchFamily="34" charset="-120"/>
              </a:rPr>
              <a:t>3Y</a:t>
            </a:r>
            <a:endParaRPr lang="en-US" sz="3050" dirty="0"/>
          </a:p>
        </p:txBody>
      </p:sp>
      <p:sp>
        <p:nvSpPr>
          <p:cNvPr id="9" name="Text 7"/>
          <p:cNvSpPr/>
          <p:nvPr/>
        </p:nvSpPr>
        <p:spPr>
          <a:xfrm>
            <a:off x="4636740" y="1737494"/>
            <a:ext cx="4033317" cy="194816"/>
          </a:xfrm>
          <a:prstGeom prst="rect">
            <a:avLst/>
          </a:prstGeom>
          <a:noFill/>
          <a:ln/>
        </p:spPr>
        <p:txBody>
          <a:bodyPr wrap="none" lIns="0" tIns="0" rIns="0" bIns="0" rtlCol="0" anchor="t"/>
          <a:lstStyle/>
          <a:p>
            <a:pPr algn="ctr" indent="0" marL="0">
              <a:lnSpc>
                <a:spcPct val="104000"/>
              </a:lnSpc>
              <a:buNone/>
            </a:pPr>
            <a:r>
              <a:rPr lang="en-US" sz="1200" b="1" dirty="0">
                <a:solidFill>
                  <a:srgbClr val="384653"/>
                </a:solidFill>
                <a:latin typeface="Barlow Bold" pitchFamily="34" charset="0"/>
                <a:ea typeface="Barlow Bold" pitchFamily="34" charset="-122"/>
                <a:cs typeface="Barlow Bold" pitchFamily="34" charset="-120"/>
              </a:rPr>
              <a:t>Market Share</a:t>
            </a:r>
            <a:endParaRPr lang="en-US" sz="1200" dirty="0"/>
          </a:p>
        </p:txBody>
      </p:sp>
      <p:sp>
        <p:nvSpPr>
          <p:cNvPr id="10" name="Text 8"/>
          <p:cNvSpPr/>
          <p:nvPr/>
        </p:nvSpPr>
        <p:spPr>
          <a:xfrm>
            <a:off x="4636740" y="1994446"/>
            <a:ext cx="4033317" cy="355402"/>
          </a:xfrm>
          <a:prstGeom prst="rect">
            <a:avLst/>
          </a:prstGeom>
          <a:noFill/>
          <a:ln/>
        </p:spPr>
        <p:txBody>
          <a:bodyPr wrap="square" lIns="0" tIns="0" rIns="0" bIns="0" rtlCol="0" anchor="t">
            <a:normAutofit/>
          </a:bodyPr>
          <a:lstStyle/>
          <a:p>
            <a:pPr algn="ctr" indent="0" marL="0">
              <a:lnSpc>
                <a:spcPct val="125000"/>
              </a:lnSpc>
              <a:buNone/>
            </a:pPr>
            <a:r>
              <a:rPr lang="en-US" sz="900" dirty="0">
                <a:solidFill>
                  <a:srgbClr val="384653"/>
                </a:solidFill>
                <a:latin typeface="Montserrat" pitchFamily="34" charset="0"/>
                <a:ea typeface="Montserrat" pitchFamily="34" charset="-122"/>
                <a:cs typeface="Montserrat" pitchFamily="34" charset="-120"/>
              </a:rPr>
              <a:t>Build measurable share within Singapore's affordable mineral water segment.</a:t>
            </a:r>
            <a:endParaRPr lang="en-US" sz="900" dirty="0"/>
          </a:p>
        </p:txBody>
      </p:sp>
      <p:sp>
        <p:nvSpPr>
          <p:cNvPr id="11" name="Text 9"/>
          <p:cNvSpPr/>
          <p:nvPr/>
        </p:nvSpPr>
        <p:spPr>
          <a:xfrm>
            <a:off x="473943" y="2466454"/>
            <a:ext cx="8653314" cy="177701"/>
          </a:xfrm>
          <a:prstGeom prst="rect">
            <a:avLst/>
          </a:prstGeom>
          <a:noFill/>
          <a:ln/>
        </p:spPr>
        <p:txBody>
          <a:bodyPr wrap="none" lIns="0" tIns="0" rIns="0" bIns="0" rtlCol="0" anchor="t"/>
          <a:lstStyle/>
          <a:p>
            <a:pPr algn="l" indent="0" marL="0">
              <a:lnSpc>
                <a:spcPct val="125000"/>
              </a:lnSpc>
              <a:buNone/>
            </a:pPr>
            <a:r>
              <a:rPr lang="en-US" sz="900" dirty="0">
                <a:solidFill>
                  <a:srgbClr val="384653"/>
                </a:solidFill>
                <a:latin typeface="Montserrat" pitchFamily="34" charset="0"/>
                <a:ea typeface="Montserrat" pitchFamily="34" charset="-122"/>
                <a:cs typeface="Montserrat" pitchFamily="34" charset="-120"/>
              </a:rPr>
              <a:t>Additional KPIs tracked across the first year and beyond:</a:t>
            </a:r>
            <a:endParaRPr lang="en-US" sz="900" dirty="0"/>
          </a:p>
        </p:txBody>
      </p:sp>
      <p:sp>
        <p:nvSpPr>
          <p:cNvPr id="12" name="Shape 10"/>
          <p:cNvSpPr/>
          <p:nvPr/>
        </p:nvSpPr>
        <p:spPr>
          <a:xfrm>
            <a:off x="473943" y="2760762"/>
            <a:ext cx="2662907" cy="1036513"/>
          </a:xfrm>
          <a:prstGeom prst="roundRect">
            <a:avLst>
              <a:gd name="adj" fmla="val 17147"/>
            </a:avLst>
          </a:prstGeom>
          <a:solidFill>
            <a:srgbClr val="D4E9F7"/>
          </a:solidFill>
          <a:ln w="4763">
            <a:solidFill>
              <a:srgbClr val="BACFDD"/>
            </a:solidFill>
            <a:prstDash val="solid"/>
          </a:ln>
        </p:spPr>
      </p:sp>
      <p:sp>
        <p:nvSpPr>
          <p:cNvPr id="13" name="Text 11"/>
          <p:cNvSpPr/>
          <p:nvPr/>
        </p:nvSpPr>
        <p:spPr>
          <a:xfrm>
            <a:off x="597173" y="2883991"/>
            <a:ext cx="2416448" cy="194816"/>
          </a:xfrm>
          <a:prstGeom prst="rect">
            <a:avLst/>
          </a:prstGeom>
          <a:noFill/>
          <a:ln/>
        </p:spPr>
        <p:txBody>
          <a:bodyPr wrap="none" lIns="0" tIns="0" rIns="0" bIns="0" rtlCol="0" anchor="t"/>
          <a:lstStyle/>
          <a:p>
            <a:pPr algn="l" indent="0" marL="0">
              <a:lnSpc>
                <a:spcPct val="104000"/>
              </a:lnSpc>
              <a:buNone/>
            </a:pPr>
            <a:r>
              <a:rPr lang="en-US" sz="1200" b="1" dirty="0">
                <a:solidFill>
                  <a:srgbClr val="384653"/>
                </a:solidFill>
                <a:latin typeface="Barlow Bold" pitchFamily="34" charset="0"/>
                <a:ea typeface="Barlow Bold" pitchFamily="34" charset="-122"/>
                <a:cs typeface="Barlow Bold" pitchFamily="34" charset="-120"/>
              </a:rPr>
              <a:t>Sales Revenue</a:t>
            </a:r>
            <a:endParaRPr lang="en-US" sz="1200" dirty="0"/>
          </a:p>
        </p:txBody>
      </p:sp>
      <p:sp>
        <p:nvSpPr>
          <p:cNvPr id="14" name="Text 12"/>
          <p:cNvSpPr/>
          <p:nvPr/>
        </p:nvSpPr>
        <p:spPr>
          <a:xfrm>
            <a:off x="597173" y="3140943"/>
            <a:ext cx="2416448" cy="355402"/>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384653"/>
                </a:solidFill>
                <a:latin typeface="Montserrat" pitchFamily="34" charset="0"/>
                <a:ea typeface="Montserrat" pitchFamily="34" charset="-122"/>
                <a:cs typeface="Montserrat" pitchFamily="34" charset="-120"/>
              </a:rPr>
              <a:t>Meet or exceed monthly sales targets for the first year.</a:t>
            </a:r>
            <a:endParaRPr lang="en-US" sz="900" dirty="0"/>
          </a:p>
        </p:txBody>
      </p:sp>
      <p:sp>
        <p:nvSpPr>
          <p:cNvPr id="15" name="Shape 13"/>
          <p:cNvSpPr/>
          <p:nvPr/>
        </p:nvSpPr>
        <p:spPr>
          <a:xfrm>
            <a:off x="3240509" y="2760762"/>
            <a:ext cx="2662907" cy="1036513"/>
          </a:xfrm>
          <a:prstGeom prst="roundRect">
            <a:avLst>
              <a:gd name="adj" fmla="val 17147"/>
            </a:avLst>
          </a:prstGeom>
          <a:solidFill>
            <a:srgbClr val="D4E9F7"/>
          </a:solidFill>
          <a:ln w="4763">
            <a:solidFill>
              <a:srgbClr val="BACFDD"/>
            </a:solidFill>
            <a:prstDash val="solid"/>
          </a:ln>
        </p:spPr>
      </p:sp>
      <p:sp>
        <p:nvSpPr>
          <p:cNvPr id="16" name="Text 14"/>
          <p:cNvSpPr/>
          <p:nvPr/>
        </p:nvSpPr>
        <p:spPr>
          <a:xfrm>
            <a:off x="3363739" y="2883991"/>
            <a:ext cx="2416448" cy="194816"/>
          </a:xfrm>
          <a:prstGeom prst="rect">
            <a:avLst/>
          </a:prstGeom>
          <a:noFill/>
          <a:ln/>
        </p:spPr>
        <p:txBody>
          <a:bodyPr wrap="none" lIns="0" tIns="0" rIns="0" bIns="0" rtlCol="0" anchor="t"/>
          <a:lstStyle/>
          <a:p>
            <a:pPr algn="l" indent="0" marL="0">
              <a:lnSpc>
                <a:spcPct val="104000"/>
              </a:lnSpc>
              <a:buNone/>
            </a:pPr>
            <a:r>
              <a:rPr lang="en-US" sz="1200" b="1" dirty="0">
                <a:solidFill>
                  <a:srgbClr val="384653"/>
                </a:solidFill>
                <a:latin typeface="Barlow Bold" pitchFamily="34" charset="0"/>
                <a:ea typeface="Barlow Bold" pitchFamily="34" charset="-122"/>
                <a:cs typeface="Barlow Bold" pitchFamily="34" charset="-120"/>
              </a:rPr>
              <a:t>Retail Distribution</a:t>
            </a:r>
            <a:endParaRPr lang="en-US" sz="1200" dirty="0"/>
          </a:p>
        </p:txBody>
      </p:sp>
      <p:sp>
        <p:nvSpPr>
          <p:cNvPr id="17" name="Text 15"/>
          <p:cNvSpPr/>
          <p:nvPr/>
        </p:nvSpPr>
        <p:spPr>
          <a:xfrm>
            <a:off x="3363739" y="3140943"/>
            <a:ext cx="2416448" cy="533102"/>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384653"/>
                </a:solidFill>
                <a:latin typeface="Montserrat" pitchFamily="34" charset="0"/>
                <a:ea typeface="Montserrat" pitchFamily="34" charset="-122"/>
                <a:cs typeface="Montserrat" pitchFamily="34" charset="-120"/>
              </a:rPr>
              <a:t>Secure placement in major supermarket chains, minimarts, convenience stores, and online grocery platforms.</a:t>
            </a:r>
            <a:endParaRPr lang="en-US" sz="900" dirty="0"/>
          </a:p>
        </p:txBody>
      </p:sp>
      <p:sp>
        <p:nvSpPr>
          <p:cNvPr id="18" name="Shape 16"/>
          <p:cNvSpPr/>
          <p:nvPr/>
        </p:nvSpPr>
        <p:spPr>
          <a:xfrm>
            <a:off x="6007075" y="2760762"/>
            <a:ext cx="2662907" cy="1036513"/>
          </a:xfrm>
          <a:prstGeom prst="roundRect">
            <a:avLst>
              <a:gd name="adj" fmla="val 17147"/>
            </a:avLst>
          </a:prstGeom>
          <a:solidFill>
            <a:srgbClr val="D4E9F7"/>
          </a:solidFill>
          <a:ln w="4763">
            <a:solidFill>
              <a:srgbClr val="BACFDD"/>
            </a:solidFill>
            <a:prstDash val="solid"/>
          </a:ln>
        </p:spPr>
      </p:sp>
      <p:sp>
        <p:nvSpPr>
          <p:cNvPr id="19" name="Text 17"/>
          <p:cNvSpPr/>
          <p:nvPr/>
        </p:nvSpPr>
        <p:spPr>
          <a:xfrm>
            <a:off x="6130305" y="2883991"/>
            <a:ext cx="2416448" cy="194816"/>
          </a:xfrm>
          <a:prstGeom prst="rect">
            <a:avLst/>
          </a:prstGeom>
          <a:noFill/>
          <a:ln/>
        </p:spPr>
        <p:txBody>
          <a:bodyPr wrap="none" lIns="0" tIns="0" rIns="0" bIns="0" rtlCol="0" anchor="t"/>
          <a:lstStyle/>
          <a:p>
            <a:pPr algn="l" indent="0" marL="0">
              <a:lnSpc>
                <a:spcPct val="104000"/>
              </a:lnSpc>
              <a:buNone/>
            </a:pPr>
            <a:r>
              <a:rPr lang="en-US" sz="1200" b="1" dirty="0">
                <a:solidFill>
                  <a:srgbClr val="384653"/>
                </a:solidFill>
                <a:latin typeface="Barlow Bold" pitchFamily="34" charset="0"/>
                <a:ea typeface="Barlow Bold" pitchFamily="34" charset="-122"/>
                <a:cs typeface="Barlow Bold" pitchFamily="34" charset="-120"/>
              </a:rPr>
              <a:t>Customer Retention</a:t>
            </a:r>
            <a:endParaRPr lang="en-US" sz="1200" dirty="0"/>
          </a:p>
        </p:txBody>
      </p:sp>
      <p:sp>
        <p:nvSpPr>
          <p:cNvPr id="20" name="Text 18"/>
          <p:cNvSpPr/>
          <p:nvPr/>
        </p:nvSpPr>
        <p:spPr>
          <a:xfrm>
            <a:off x="6130305" y="3140943"/>
            <a:ext cx="2416448" cy="533102"/>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384653"/>
                </a:solidFill>
                <a:latin typeface="Montserrat" pitchFamily="34" charset="0"/>
                <a:ea typeface="Montserrat" pitchFamily="34" charset="-122"/>
                <a:cs typeface="Montserrat" pitchFamily="34" charset="-120"/>
              </a:rPr>
              <a:t>Achieve repeat purchase rates through loyalty programmes and family value packs.</a:t>
            </a:r>
            <a:endParaRPr lang="en-US" sz="900" dirty="0"/>
          </a:p>
        </p:txBody>
      </p:sp>
      <p:sp>
        <p:nvSpPr>
          <p:cNvPr id="21" name="Shape 19"/>
          <p:cNvSpPr/>
          <p:nvPr/>
        </p:nvSpPr>
        <p:spPr>
          <a:xfrm>
            <a:off x="473943" y="3900934"/>
            <a:ext cx="4046190" cy="858813"/>
          </a:xfrm>
          <a:prstGeom prst="roundRect">
            <a:avLst>
              <a:gd name="adj" fmla="val 20695"/>
            </a:avLst>
          </a:prstGeom>
          <a:solidFill>
            <a:srgbClr val="D4E9F7"/>
          </a:solidFill>
          <a:ln w="4763">
            <a:solidFill>
              <a:srgbClr val="BACFDD"/>
            </a:solidFill>
            <a:prstDash val="solid"/>
          </a:ln>
        </p:spPr>
      </p:sp>
      <p:sp>
        <p:nvSpPr>
          <p:cNvPr id="22" name="Text 20"/>
          <p:cNvSpPr/>
          <p:nvPr/>
        </p:nvSpPr>
        <p:spPr>
          <a:xfrm>
            <a:off x="597173" y="4024164"/>
            <a:ext cx="3799731" cy="194816"/>
          </a:xfrm>
          <a:prstGeom prst="rect">
            <a:avLst/>
          </a:prstGeom>
          <a:noFill/>
          <a:ln/>
        </p:spPr>
        <p:txBody>
          <a:bodyPr wrap="none" lIns="0" tIns="0" rIns="0" bIns="0" rtlCol="0" anchor="t"/>
          <a:lstStyle/>
          <a:p>
            <a:pPr algn="l" indent="0" marL="0">
              <a:lnSpc>
                <a:spcPct val="104000"/>
              </a:lnSpc>
              <a:buNone/>
            </a:pPr>
            <a:r>
              <a:rPr lang="en-US" sz="1200" b="1" dirty="0">
                <a:solidFill>
                  <a:srgbClr val="384653"/>
                </a:solidFill>
                <a:latin typeface="Barlow Bold" pitchFamily="34" charset="0"/>
                <a:ea typeface="Barlow Bold" pitchFamily="34" charset="-122"/>
                <a:cs typeface="Barlow Bold" pitchFamily="34" charset="-120"/>
              </a:rPr>
              <a:t>Digital Engagement</a:t>
            </a:r>
            <a:endParaRPr lang="en-US" sz="1200" dirty="0"/>
          </a:p>
        </p:txBody>
      </p:sp>
      <p:sp>
        <p:nvSpPr>
          <p:cNvPr id="23" name="Text 21"/>
          <p:cNvSpPr/>
          <p:nvPr/>
        </p:nvSpPr>
        <p:spPr>
          <a:xfrm>
            <a:off x="597173" y="4281115"/>
            <a:ext cx="3799731" cy="355402"/>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384653"/>
                </a:solidFill>
                <a:latin typeface="Montserrat" pitchFamily="34" charset="0"/>
                <a:ea typeface="Montserrat" pitchFamily="34" charset="-122"/>
                <a:cs typeface="Montserrat" pitchFamily="34" charset="-120"/>
              </a:rPr>
              <a:t>Increase website visits, social media followers, engagement rates, and campaign participation over time.</a:t>
            </a:r>
            <a:endParaRPr lang="en-US" sz="900" dirty="0"/>
          </a:p>
        </p:txBody>
      </p:sp>
      <p:sp>
        <p:nvSpPr>
          <p:cNvPr id="24" name="Shape 22"/>
          <p:cNvSpPr/>
          <p:nvPr/>
        </p:nvSpPr>
        <p:spPr>
          <a:xfrm>
            <a:off x="4623792" y="3900934"/>
            <a:ext cx="4046190" cy="858813"/>
          </a:xfrm>
          <a:prstGeom prst="roundRect">
            <a:avLst>
              <a:gd name="adj" fmla="val 20695"/>
            </a:avLst>
          </a:prstGeom>
          <a:solidFill>
            <a:srgbClr val="D4E9F7"/>
          </a:solidFill>
          <a:ln w="4763">
            <a:solidFill>
              <a:srgbClr val="BACFDD"/>
            </a:solidFill>
            <a:prstDash val="solid"/>
          </a:ln>
        </p:spPr>
      </p:sp>
      <p:sp>
        <p:nvSpPr>
          <p:cNvPr id="25" name="Text 23"/>
          <p:cNvSpPr/>
          <p:nvPr/>
        </p:nvSpPr>
        <p:spPr>
          <a:xfrm>
            <a:off x="4747022" y="4024164"/>
            <a:ext cx="3799731" cy="194816"/>
          </a:xfrm>
          <a:prstGeom prst="rect">
            <a:avLst/>
          </a:prstGeom>
          <a:noFill/>
          <a:ln/>
        </p:spPr>
        <p:txBody>
          <a:bodyPr wrap="none" lIns="0" tIns="0" rIns="0" bIns="0" rtlCol="0" anchor="t"/>
          <a:lstStyle/>
          <a:p>
            <a:pPr algn="l" indent="0" marL="0">
              <a:lnSpc>
                <a:spcPct val="104000"/>
              </a:lnSpc>
              <a:buNone/>
            </a:pPr>
            <a:r>
              <a:rPr lang="en-US" sz="1200" b="1" dirty="0">
                <a:solidFill>
                  <a:srgbClr val="384653"/>
                </a:solidFill>
                <a:latin typeface="Barlow Bold" pitchFamily="34" charset="0"/>
                <a:ea typeface="Barlow Bold" pitchFamily="34" charset="-122"/>
                <a:cs typeface="Barlow Bold" pitchFamily="34" charset="-120"/>
              </a:rPr>
              <a:t>Customer Satisfaction</a:t>
            </a:r>
            <a:endParaRPr lang="en-US" sz="1200" dirty="0"/>
          </a:p>
        </p:txBody>
      </p:sp>
      <p:sp>
        <p:nvSpPr>
          <p:cNvPr id="26" name="Text 24"/>
          <p:cNvSpPr/>
          <p:nvPr/>
        </p:nvSpPr>
        <p:spPr>
          <a:xfrm>
            <a:off x="4747022" y="4281115"/>
            <a:ext cx="3799731" cy="355402"/>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384653"/>
                </a:solidFill>
                <a:latin typeface="Montserrat" pitchFamily="34" charset="0"/>
                <a:ea typeface="Montserrat" pitchFamily="34" charset="-122"/>
                <a:cs typeface="Montserrat" pitchFamily="34" charset="-120"/>
              </a:rPr>
              <a:t>Maintain consistently positive customer feedback and high product ratings.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73943" y="415900"/>
            <a:ext cx="507950" cy="164009"/>
          </a:xfrm>
          <a:prstGeom prst="roundRect">
            <a:avLst>
              <a:gd name="adj" fmla="val 78953"/>
            </a:avLst>
          </a:prstGeom>
          <a:solidFill>
            <a:srgbClr val="D4E9F7"/>
          </a:solidFill>
          <a:ln/>
        </p:spPr>
      </p:sp>
      <p:sp>
        <p:nvSpPr>
          <p:cNvPr id="3" name="Text 1"/>
          <p:cNvSpPr/>
          <p:nvPr/>
        </p:nvSpPr>
        <p:spPr>
          <a:xfrm>
            <a:off x="538683" y="448270"/>
            <a:ext cx="835670" cy="99268"/>
          </a:xfrm>
          <a:prstGeom prst="rect">
            <a:avLst/>
          </a:prstGeom>
          <a:noFill/>
          <a:ln/>
        </p:spPr>
        <p:txBody>
          <a:bodyPr wrap="none" lIns="0" tIns="0" rIns="0" bIns="0" rtlCol="0" anchor="t"/>
          <a:lstStyle/>
          <a:p>
            <a:pPr algn="l" indent="0" marL="0">
              <a:lnSpc>
                <a:spcPct val="96000"/>
              </a:lnSpc>
              <a:buNone/>
            </a:pPr>
            <a:r>
              <a:rPr lang="en-US" sz="650" dirty="0">
                <a:solidFill>
                  <a:srgbClr val="384653"/>
                </a:solidFill>
                <a:latin typeface="Montserrat" pitchFamily="34" charset="0"/>
                <a:ea typeface="Montserrat" pitchFamily="34" charset="-122"/>
                <a:cs typeface="Montserrat" pitchFamily="34" charset="-120"/>
              </a:rPr>
              <a:t>BUDGET</a:t>
            </a:r>
            <a:endParaRPr lang="en-US" sz="650" dirty="0"/>
          </a:p>
        </p:txBody>
      </p:sp>
      <p:sp>
        <p:nvSpPr>
          <p:cNvPr id="4" name="Text 2"/>
          <p:cNvSpPr/>
          <p:nvPr/>
        </p:nvSpPr>
        <p:spPr>
          <a:xfrm>
            <a:off x="473943" y="614288"/>
            <a:ext cx="8196114" cy="354955"/>
          </a:xfrm>
          <a:prstGeom prst="rect">
            <a:avLst/>
          </a:prstGeom>
          <a:noFill/>
          <a:ln/>
        </p:spPr>
        <p:txBody>
          <a:bodyPr wrap="none" lIns="0" tIns="0" rIns="0" bIns="0" rtlCol="0" anchor="t"/>
          <a:lstStyle/>
          <a:p>
            <a:pPr algn="l" indent="0" marL="0">
              <a:lnSpc>
                <a:spcPct val="104000"/>
              </a:lnSpc>
              <a:buNone/>
            </a:pPr>
            <a:r>
              <a:rPr lang="en-US" sz="2200" b="1" dirty="0">
                <a:solidFill>
                  <a:srgbClr val="2E3C4E"/>
                </a:solidFill>
                <a:latin typeface="Barlow Bold" pitchFamily="34" charset="0"/>
                <a:ea typeface="Barlow Bold" pitchFamily="34" charset="-122"/>
                <a:cs typeface="Barlow Bold" pitchFamily="34" charset="-120"/>
              </a:rPr>
              <a:t>First-Year Budget Allocation</a:t>
            </a:r>
            <a:endParaRPr lang="en-US" sz="2200" dirty="0"/>
          </a:p>
        </p:txBody>
      </p:sp>
      <p:pic>
        <p:nvPicPr>
          <p:cNvPr id="5" name="Image 0" descr="preencoded.png">    </p:cNvPr>
          <p:cNvPicPr>
            <a:picLocks noChangeAspect="1"/>
          </p:cNvPicPr>
          <p:nvPr/>
        </p:nvPicPr>
        <p:blipFill>
          <a:blip r:embed="rId1"/>
          <a:stretch>
            <a:fillRect/>
          </a:stretch>
        </p:blipFill>
        <p:spPr>
          <a:xfrm>
            <a:off x="473943" y="1194867"/>
            <a:ext cx="3966418" cy="2855044"/>
          </a:xfrm>
          <a:prstGeom prst="rect">
            <a:avLst/>
          </a:prstGeom>
        </p:spPr>
      </p:pic>
      <p:sp>
        <p:nvSpPr>
          <p:cNvPr id="6" name="Text 3"/>
          <p:cNvSpPr/>
          <p:nvPr/>
        </p:nvSpPr>
        <p:spPr>
          <a:xfrm>
            <a:off x="4708401" y="1184151"/>
            <a:ext cx="3966418" cy="177478"/>
          </a:xfrm>
          <a:prstGeom prst="rect">
            <a:avLst/>
          </a:prstGeom>
          <a:noFill/>
          <a:ln/>
        </p:spPr>
        <p:txBody>
          <a:bodyPr wrap="none" lIns="0" tIns="0" rIns="0" bIns="0" rtlCol="0" anchor="t"/>
          <a:lstStyle/>
          <a:p>
            <a:pPr algn="l" indent="0" marL="0">
              <a:lnSpc>
                <a:spcPct val="104000"/>
              </a:lnSpc>
              <a:buNone/>
            </a:pPr>
            <a:r>
              <a:rPr lang="en-US" sz="1100" b="1" dirty="0">
                <a:solidFill>
                  <a:srgbClr val="2E3C4E"/>
                </a:solidFill>
                <a:latin typeface="Barlow Bold" pitchFamily="34" charset="0"/>
                <a:ea typeface="Barlow Bold" pitchFamily="34" charset="-122"/>
                <a:cs typeface="Barlow Bold" pitchFamily="34" charset="-120"/>
              </a:rPr>
              <a:t>Budget Justification</a:t>
            </a:r>
            <a:endParaRPr lang="en-US" sz="110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94113" y="1444005"/>
            <a:ext cx="1943770" cy="1067395"/>
          </a:xfrm>
          <a:prstGeom prst="rect">
            <a:avLst/>
          </a:prstGeom>
        </p:spPr>
      </p:pic>
      <p:sp>
        <p:nvSpPr>
          <p:cNvPr id="8" name="Text 4"/>
          <p:cNvSpPr/>
          <p:nvPr/>
        </p:nvSpPr>
        <p:spPr>
          <a:xfrm>
            <a:off x="4844876" y="1458292"/>
            <a:ext cx="1793007" cy="177478"/>
          </a:xfrm>
          <a:prstGeom prst="rect">
            <a:avLst/>
          </a:prstGeom>
          <a:noFill/>
          <a:ln/>
        </p:spPr>
        <p:txBody>
          <a:bodyPr wrap="none" lIns="0" tIns="0" rIns="0" bIns="0" rtlCol="0" anchor="t"/>
          <a:lstStyle/>
          <a:p>
            <a:pPr algn="l" indent="0" marL="0">
              <a:lnSpc>
                <a:spcPct val="104000"/>
              </a:lnSpc>
              <a:buNone/>
            </a:pPr>
            <a:r>
              <a:rPr lang="en-US" sz="1100" b="1" dirty="0">
                <a:solidFill>
                  <a:srgbClr val="384653"/>
                </a:solidFill>
                <a:latin typeface="Barlow Bold" pitchFamily="34" charset="0"/>
                <a:ea typeface="Barlow Bold" pitchFamily="34" charset="-122"/>
                <a:cs typeface="Barlow Bold" pitchFamily="34" charset="-120"/>
              </a:rPr>
              <a:t>Digital Marketing — 35%</a:t>
            </a:r>
            <a:endParaRPr lang="en-US" sz="1100" dirty="0"/>
          </a:p>
        </p:txBody>
      </p:sp>
      <p:sp>
        <p:nvSpPr>
          <p:cNvPr id="9" name="Text 5"/>
          <p:cNvSpPr/>
          <p:nvPr/>
        </p:nvSpPr>
        <p:spPr>
          <a:xfrm>
            <a:off x="4844876" y="1721718"/>
            <a:ext cx="1793007" cy="775395"/>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384653"/>
                </a:solidFill>
                <a:latin typeface="Montserrat" pitchFamily="34" charset="0"/>
                <a:ea typeface="Montserrat" pitchFamily="34" charset="-122"/>
                <a:cs typeface="Montserrat" pitchFamily="34" charset="-120"/>
              </a:rPr>
              <a:t>Cost-effective method to reach health-conscious families through targeted online advertising and social media campaigns.</a:t>
            </a:r>
            <a:endParaRPr lang="en-US" sz="800" dirty="0"/>
          </a:p>
        </p:txBody>
      </p:sp>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31050" y="1444005"/>
            <a:ext cx="1943770" cy="1067395"/>
          </a:xfrm>
          <a:prstGeom prst="rect">
            <a:avLst/>
          </a:prstGeom>
        </p:spPr>
      </p:pic>
      <p:sp>
        <p:nvSpPr>
          <p:cNvPr id="11" name="Text 6"/>
          <p:cNvSpPr/>
          <p:nvPr/>
        </p:nvSpPr>
        <p:spPr>
          <a:xfrm>
            <a:off x="6881813" y="1458292"/>
            <a:ext cx="1793007" cy="177478"/>
          </a:xfrm>
          <a:prstGeom prst="rect">
            <a:avLst/>
          </a:prstGeom>
          <a:noFill/>
          <a:ln/>
        </p:spPr>
        <p:txBody>
          <a:bodyPr wrap="none" lIns="0" tIns="0" rIns="0" bIns="0" rtlCol="0" anchor="t"/>
          <a:lstStyle/>
          <a:p>
            <a:pPr algn="l" indent="0" marL="0">
              <a:lnSpc>
                <a:spcPct val="104000"/>
              </a:lnSpc>
              <a:buNone/>
            </a:pPr>
            <a:r>
              <a:rPr lang="en-US" sz="1100" b="1" dirty="0">
                <a:solidFill>
                  <a:srgbClr val="384653"/>
                </a:solidFill>
                <a:latin typeface="Barlow Bold" pitchFamily="34" charset="0"/>
                <a:ea typeface="Barlow Bold" pitchFamily="34" charset="-122"/>
                <a:cs typeface="Barlow Bold" pitchFamily="34" charset="-120"/>
              </a:rPr>
              <a:t>In-store Promotions — 25%</a:t>
            </a:r>
            <a:endParaRPr lang="en-US" sz="1100" dirty="0"/>
          </a:p>
        </p:txBody>
      </p:sp>
      <p:sp>
        <p:nvSpPr>
          <p:cNvPr id="12" name="Text 7"/>
          <p:cNvSpPr/>
          <p:nvPr/>
        </p:nvSpPr>
        <p:spPr>
          <a:xfrm>
            <a:off x="6881813" y="1721718"/>
            <a:ext cx="1793007" cy="465237"/>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384653"/>
                </a:solidFill>
                <a:latin typeface="Montserrat" pitchFamily="34" charset="0"/>
                <a:ea typeface="Montserrat" pitchFamily="34" charset="-122"/>
                <a:cs typeface="Montserrat" pitchFamily="34" charset="-120"/>
              </a:rPr>
              <a:t>Encourages product trials and increases purchase conversion at the point of sale.</a:t>
            </a:r>
            <a:endParaRPr lang="en-US" sz="800" dirty="0"/>
          </a:p>
        </p:txBody>
      </p:sp>
      <p:pic>
        <p:nvPicPr>
          <p:cNvPr id="1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94113" y="2654796"/>
            <a:ext cx="1943770" cy="934715"/>
          </a:xfrm>
          <a:prstGeom prst="rect">
            <a:avLst/>
          </a:prstGeom>
        </p:spPr>
      </p:pic>
      <p:sp>
        <p:nvSpPr>
          <p:cNvPr id="14" name="Text 8"/>
          <p:cNvSpPr/>
          <p:nvPr/>
        </p:nvSpPr>
        <p:spPr>
          <a:xfrm>
            <a:off x="4844876" y="2669084"/>
            <a:ext cx="1793007" cy="177478"/>
          </a:xfrm>
          <a:prstGeom prst="rect">
            <a:avLst/>
          </a:prstGeom>
          <a:noFill/>
          <a:ln/>
        </p:spPr>
        <p:txBody>
          <a:bodyPr wrap="none" lIns="0" tIns="0" rIns="0" bIns="0" rtlCol="0" anchor="t"/>
          <a:lstStyle/>
          <a:p>
            <a:pPr algn="l" indent="0" marL="0">
              <a:lnSpc>
                <a:spcPct val="104000"/>
              </a:lnSpc>
              <a:buNone/>
            </a:pPr>
            <a:r>
              <a:rPr lang="en-US" sz="1100" b="1" dirty="0">
                <a:solidFill>
                  <a:srgbClr val="384653"/>
                </a:solidFill>
                <a:latin typeface="Barlow Bold" pitchFamily="34" charset="0"/>
                <a:ea typeface="Barlow Bold" pitchFamily="34" charset="-122"/>
                <a:cs typeface="Barlow Bold" pitchFamily="34" charset="-120"/>
              </a:rPr>
              <a:t>Product Sampling — 15%</a:t>
            </a:r>
            <a:endParaRPr lang="en-US" sz="1100" dirty="0"/>
          </a:p>
        </p:txBody>
      </p:sp>
      <p:sp>
        <p:nvSpPr>
          <p:cNvPr id="15" name="Text 9"/>
          <p:cNvSpPr/>
          <p:nvPr/>
        </p:nvSpPr>
        <p:spPr>
          <a:xfrm>
            <a:off x="4844876" y="2932509"/>
            <a:ext cx="1793007" cy="465237"/>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384653"/>
                </a:solidFill>
                <a:latin typeface="Montserrat" pitchFamily="34" charset="0"/>
                <a:ea typeface="Montserrat" pitchFamily="34" charset="-122"/>
                <a:cs typeface="Montserrat" pitchFamily="34" charset="-120"/>
              </a:rPr>
              <a:t>Builds consumer confidence and introduces AquaVital to new customers.</a:t>
            </a:r>
            <a:endParaRPr lang="en-US" sz="800" dirty="0"/>
          </a:p>
        </p:txBody>
      </p:sp>
      <p:pic>
        <p:nvPicPr>
          <p:cNvPr id="1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31050" y="2654796"/>
            <a:ext cx="1943770" cy="934715"/>
          </a:xfrm>
          <a:prstGeom prst="rect">
            <a:avLst/>
          </a:prstGeom>
        </p:spPr>
      </p:pic>
      <p:sp>
        <p:nvSpPr>
          <p:cNvPr id="17" name="Text 10"/>
          <p:cNvSpPr/>
          <p:nvPr/>
        </p:nvSpPr>
        <p:spPr>
          <a:xfrm>
            <a:off x="6881813" y="2669084"/>
            <a:ext cx="1793007" cy="354955"/>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384653"/>
                </a:solidFill>
                <a:latin typeface="Barlow Bold" pitchFamily="34" charset="0"/>
                <a:ea typeface="Barlow Bold" pitchFamily="34" charset="-122"/>
                <a:cs typeface="Barlow Bold" pitchFamily="34" charset="-120"/>
              </a:rPr>
              <a:t>Community Sponsorships — 10%</a:t>
            </a:r>
            <a:endParaRPr lang="en-US" sz="1100" dirty="0"/>
          </a:p>
        </p:txBody>
      </p:sp>
      <p:sp>
        <p:nvSpPr>
          <p:cNvPr id="18" name="Text 11"/>
          <p:cNvSpPr/>
          <p:nvPr/>
        </p:nvSpPr>
        <p:spPr>
          <a:xfrm>
            <a:off x="6881813" y="3109987"/>
            <a:ext cx="1793007" cy="465237"/>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384653"/>
                </a:solidFill>
                <a:latin typeface="Montserrat" pitchFamily="34" charset="0"/>
                <a:ea typeface="Montserrat" pitchFamily="34" charset="-122"/>
                <a:cs typeface="Montserrat" pitchFamily="34" charset="-120"/>
              </a:rPr>
              <a:t>Enhances brand credibility and strengthens relationships with local families and communities.</a:t>
            </a:r>
            <a:endParaRPr lang="en-US" sz="800" dirty="0"/>
          </a:p>
        </p:txBody>
      </p:sp>
      <p:pic>
        <p:nvPicPr>
          <p:cNvPr id="19"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94113" y="3732907"/>
            <a:ext cx="1943770" cy="912316"/>
          </a:xfrm>
          <a:prstGeom prst="rect">
            <a:avLst/>
          </a:prstGeom>
        </p:spPr>
      </p:pic>
      <p:sp>
        <p:nvSpPr>
          <p:cNvPr id="20" name="Text 12"/>
          <p:cNvSpPr/>
          <p:nvPr/>
        </p:nvSpPr>
        <p:spPr>
          <a:xfrm>
            <a:off x="4844876" y="3747195"/>
            <a:ext cx="1793007" cy="177478"/>
          </a:xfrm>
          <a:prstGeom prst="rect">
            <a:avLst/>
          </a:prstGeom>
          <a:noFill/>
          <a:ln/>
        </p:spPr>
        <p:txBody>
          <a:bodyPr wrap="none" lIns="0" tIns="0" rIns="0" bIns="0" rtlCol="0" anchor="t"/>
          <a:lstStyle/>
          <a:p>
            <a:pPr algn="l" indent="0" marL="0">
              <a:lnSpc>
                <a:spcPct val="104000"/>
              </a:lnSpc>
              <a:buNone/>
            </a:pPr>
            <a:r>
              <a:rPr lang="en-US" sz="1100" b="1" dirty="0">
                <a:solidFill>
                  <a:srgbClr val="384653"/>
                </a:solidFill>
                <a:latin typeface="Barlow Bold" pitchFamily="34" charset="0"/>
                <a:ea typeface="Barlow Bold" pitchFamily="34" charset="-122"/>
                <a:cs typeface="Barlow Bold" pitchFamily="34" charset="-120"/>
              </a:rPr>
              <a:t>Packaging &amp; POS — 10%</a:t>
            </a:r>
            <a:endParaRPr lang="en-US" sz="1100" dirty="0"/>
          </a:p>
        </p:txBody>
      </p:sp>
      <p:sp>
        <p:nvSpPr>
          <p:cNvPr id="21" name="Text 13"/>
          <p:cNvSpPr/>
          <p:nvPr/>
        </p:nvSpPr>
        <p:spPr>
          <a:xfrm>
            <a:off x="4844876" y="4010620"/>
            <a:ext cx="1793007" cy="465237"/>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384653"/>
                </a:solidFill>
                <a:latin typeface="Montserrat" pitchFamily="34" charset="0"/>
                <a:ea typeface="Montserrat" pitchFamily="34" charset="-122"/>
                <a:cs typeface="Montserrat" pitchFamily="34" charset="-120"/>
              </a:rPr>
              <a:t>Reinforces brand identity and communicates the product's health and affordability benefits.</a:t>
            </a:r>
            <a:endParaRPr lang="en-US" sz="800" dirty="0"/>
          </a:p>
        </p:txBody>
      </p:sp>
      <p:pic>
        <p:nvPicPr>
          <p:cNvPr id="22"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731050" y="3732907"/>
            <a:ext cx="1943770" cy="912316"/>
          </a:xfrm>
          <a:prstGeom prst="rect">
            <a:avLst/>
          </a:prstGeom>
        </p:spPr>
      </p:pic>
      <p:sp>
        <p:nvSpPr>
          <p:cNvPr id="23" name="Text 14"/>
          <p:cNvSpPr/>
          <p:nvPr/>
        </p:nvSpPr>
        <p:spPr>
          <a:xfrm>
            <a:off x="6881813" y="3747195"/>
            <a:ext cx="1793007" cy="177478"/>
          </a:xfrm>
          <a:prstGeom prst="rect">
            <a:avLst/>
          </a:prstGeom>
          <a:noFill/>
          <a:ln/>
        </p:spPr>
        <p:txBody>
          <a:bodyPr wrap="none" lIns="0" tIns="0" rIns="0" bIns="0" rtlCol="0" anchor="t"/>
          <a:lstStyle/>
          <a:p>
            <a:pPr algn="l" indent="0" marL="0">
              <a:lnSpc>
                <a:spcPct val="104000"/>
              </a:lnSpc>
              <a:buNone/>
            </a:pPr>
            <a:r>
              <a:rPr lang="en-US" sz="1100" b="1" dirty="0">
                <a:solidFill>
                  <a:srgbClr val="384653"/>
                </a:solidFill>
                <a:latin typeface="Barlow Bold" pitchFamily="34" charset="0"/>
                <a:ea typeface="Barlow Bold" pitchFamily="34" charset="-122"/>
                <a:cs typeface="Barlow Bold" pitchFamily="34" charset="-120"/>
              </a:rPr>
              <a:t>Market Research — 5%</a:t>
            </a:r>
            <a:endParaRPr lang="en-US" sz="1100" dirty="0"/>
          </a:p>
        </p:txBody>
      </p:sp>
      <p:sp>
        <p:nvSpPr>
          <p:cNvPr id="24" name="Text 15"/>
          <p:cNvSpPr/>
          <p:nvPr/>
        </p:nvSpPr>
        <p:spPr>
          <a:xfrm>
            <a:off x="6881813" y="4010620"/>
            <a:ext cx="1793007" cy="620316"/>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384653"/>
                </a:solidFill>
                <a:latin typeface="Montserrat" pitchFamily="34" charset="0"/>
                <a:ea typeface="Montserrat" pitchFamily="34" charset="-122"/>
                <a:cs typeface="Montserrat" pitchFamily="34" charset="-120"/>
              </a:rPr>
              <a:t>Collects customer insights to refine future marketing strategies and product improvements.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73943" y="557287"/>
            <a:ext cx="804788" cy="205680"/>
          </a:xfrm>
          <a:prstGeom prst="roundRect">
            <a:avLst>
              <a:gd name="adj" fmla="val 79005"/>
            </a:avLst>
          </a:prstGeom>
          <a:solidFill>
            <a:srgbClr val="D4E9F7"/>
          </a:solidFill>
          <a:ln/>
        </p:spPr>
      </p:sp>
      <p:sp>
        <p:nvSpPr>
          <p:cNvPr id="3" name="Text 1"/>
          <p:cNvSpPr/>
          <p:nvPr/>
        </p:nvSpPr>
        <p:spPr>
          <a:xfrm>
            <a:off x="555129" y="597843"/>
            <a:ext cx="1099617" cy="124569"/>
          </a:xfrm>
          <a:prstGeom prst="rect">
            <a:avLst/>
          </a:prstGeom>
          <a:noFill/>
          <a:ln/>
        </p:spPr>
        <p:txBody>
          <a:bodyPr wrap="none" lIns="0" tIns="0" rIns="0" bIns="0" rtlCol="0" anchor="t"/>
          <a:lstStyle/>
          <a:p>
            <a:pPr algn="l" indent="0" marL="0">
              <a:lnSpc>
                <a:spcPct val="96000"/>
              </a:lnSpc>
              <a:buNone/>
            </a:pPr>
            <a:r>
              <a:rPr lang="en-US" sz="850" dirty="0">
                <a:solidFill>
                  <a:srgbClr val="384653"/>
                </a:solidFill>
                <a:latin typeface="Montserrat" pitchFamily="34" charset="0"/>
                <a:ea typeface="Montserrat" pitchFamily="34" charset="-122"/>
                <a:cs typeface="Montserrat" pitchFamily="34" charset="-120"/>
              </a:rPr>
              <a:t>OUTCOMES</a:t>
            </a:r>
            <a:endParaRPr lang="en-US" sz="850" dirty="0"/>
          </a:p>
        </p:txBody>
      </p:sp>
      <p:sp>
        <p:nvSpPr>
          <p:cNvPr id="4" name="Text 2"/>
          <p:cNvSpPr/>
          <p:nvPr/>
        </p:nvSpPr>
        <p:spPr>
          <a:xfrm>
            <a:off x="473943" y="817066"/>
            <a:ext cx="8196114" cy="445443"/>
          </a:xfrm>
          <a:prstGeom prst="rect">
            <a:avLst/>
          </a:prstGeom>
          <a:noFill/>
          <a:ln/>
        </p:spPr>
        <p:txBody>
          <a:bodyPr wrap="none" lIns="0" tIns="0" rIns="0" bIns="0" rtlCol="0" anchor="t"/>
          <a:lstStyle/>
          <a:p>
            <a:pPr algn="l" indent="0" marL="0">
              <a:lnSpc>
                <a:spcPct val="104000"/>
              </a:lnSpc>
              <a:buNone/>
            </a:pPr>
            <a:r>
              <a:rPr lang="en-US" sz="2800" b="1" dirty="0">
                <a:solidFill>
                  <a:srgbClr val="2E3C4E"/>
                </a:solidFill>
                <a:latin typeface="Barlow Bold" pitchFamily="34" charset="0"/>
                <a:ea typeface="Barlow Bold" pitchFamily="34" charset="-122"/>
                <a:cs typeface="Barlow Bold" pitchFamily="34" charset="-120"/>
              </a:rPr>
              <a:t>Expected Outcomes</a:t>
            </a:r>
            <a:endParaRPr lang="en-US" sz="2800" dirty="0"/>
          </a:p>
        </p:txBody>
      </p:sp>
      <p:pic>
        <p:nvPicPr>
          <p:cNvPr id="5" name="Image 0" descr="preencoded.png">    </p:cNvPr>
          <p:cNvPicPr>
            <a:picLocks noChangeAspect="1"/>
          </p:cNvPicPr>
          <p:nvPr/>
        </p:nvPicPr>
        <p:blipFill>
          <a:blip r:embed="rId1"/>
          <a:stretch>
            <a:fillRect/>
          </a:stretch>
        </p:blipFill>
        <p:spPr>
          <a:xfrm>
            <a:off x="473943" y="1871811"/>
            <a:ext cx="2641774" cy="714375"/>
          </a:xfrm>
          <a:prstGeom prst="rect">
            <a:avLst/>
          </a:prstGeom>
        </p:spPr>
      </p:pic>
      <p:sp>
        <p:nvSpPr>
          <p:cNvPr id="6" name="Text 3"/>
          <p:cNvSpPr/>
          <p:nvPr/>
        </p:nvSpPr>
        <p:spPr>
          <a:xfrm>
            <a:off x="609302" y="2413397"/>
            <a:ext cx="2371055" cy="222647"/>
          </a:xfrm>
          <a:prstGeom prst="rect">
            <a:avLst/>
          </a:prstGeom>
          <a:noFill/>
          <a:ln/>
        </p:spPr>
        <p:txBody>
          <a:bodyPr wrap="none" lIns="0" tIns="0" rIns="0" bIns="0" rtlCol="0" anchor="t"/>
          <a:lstStyle/>
          <a:p>
            <a:pPr algn="l" indent="0" marL="0">
              <a:lnSpc>
                <a:spcPct val="104000"/>
              </a:lnSpc>
              <a:buNone/>
            </a:pPr>
            <a:r>
              <a:rPr lang="en-US" sz="1400" b="1" dirty="0">
                <a:solidFill>
                  <a:srgbClr val="384653"/>
                </a:solidFill>
                <a:latin typeface="Barlow Bold" pitchFamily="34" charset="0"/>
                <a:ea typeface="Barlow Bold" pitchFamily="34" charset="-122"/>
                <a:cs typeface="Barlow Bold" pitchFamily="34" charset="-120"/>
              </a:rPr>
              <a:t>Short-Term (First 12 Months)</a:t>
            </a:r>
            <a:endParaRPr lang="en-US" sz="1400" dirty="0"/>
          </a:p>
        </p:txBody>
      </p:sp>
      <p:sp>
        <p:nvSpPr>
          <p:cNvPr id="7" name="Text 4"/>
          <p:cNvSpPr/>
          <p:nvPr/>
        </p:nvSpPr>
        <p:spPr>
          <a:xfrm>
            <a:off x="609302" y="2717229"/>
            <a:ext cx="2371055" cy="1733550"/>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384653"/>
                </a:solidFill>
                <a:latin typeface="Montserrat" pitchFamily="34" charset="0"/>
                <a:ea typeface="Montserrat" pitchFamily="34" charset="-122"/>
                <a:cs typeface="Montserrat" pitchFamily="34" charset="-120"/>
              </a:rPr>
              <a:t>Establish strong brand awareness among health-conscious budget families. Secure distribution through major retail channels. Encourage first-time purchases through promotional campaigns. Develop a positive reputation for affordable, healthy hydration.</a:t>
            </a:r>
            <a:endParaRPr lang="en-US" sz="1050" dirty="0"/>
          </a:p>
        </p:txBody>
      </p:sp>
      <p:pic>
        <p:nvPicPr>
          <p:cNvPr id="8" name="Image 1" descr="preencoded.png">    </p:cNvPr>
          <p:cNvPicPr>
            <a:picLocks noChangeAspect="1"/>
          </p:cNvPicPr>
          <p:nvPr/>
        </p:nvPicPr>
        <p:blipFill>
          <a:blip r:embed="rId2"/>
          <a:stretch>
            <a:fillRect/>
          </a:stretch>
        </p:blipFill>
        <p:spPr>
          <a:xfrm>
            <a:off x="3251076" y="1668661"/>
            <a:ext cx="2641774" cy="714375"/>
          </a:xfrm>
          <a:prstGeom prst="rect">
            <a:avLst/>
          </a:prstGeom>
        </p:spPr>
      </p:pic>
      <p:sp>
        <p:nvSpPr>
          <p:cNvPr id="9" name="Text 5"/>
          <p:cNvSpPr/>
          <p:nvPr/>
        </p:nvSpPr>
        <p:spPr>
          <a:xfrm>
            <a:off x="3386435" y="2210246"/>
            <a:ext cx="2371055" cy="222647"/>
          </a:xfrm>
          <a:prstGeom prst="rect">
            <a:avLst/>
          </a:prstGeom>
          <a:noFill/>
          <a:ln/>
        </p:spPr>
        <p:txBody>
          <a:bodyPr wrap="none" lIns="0" tIns="0" rIns="0" bIns="0" rtlCol="0" anchor="t"/>
          <a:lstStyle/>
          <a:p>
            <a:pPr algn="l" indent="0" marL="0">
              <a:lnSpc>
                <a:spcPct val="104000"/>
              </a:lnSpc>
              <a:buNone/>
            </a:pPr>
            <a:r>
              <a:rPr lang="en-US" sz="1400" b="1" dirty="0">
                <a:solidFill>
                  <a:srgbClr val="384653"/>
                </a:solidFill>
                <a:latin typeface="Barlow Bold" pitchFamily="34" charset="0"/>
                <a:ea typeface="Barlow Bold" pitchFamily="34" charset="-122"/>
                <a:cs typeface="Barlow Bold" pitchFamily="34" charset="-120"/>
              </a:rPr>
              <a:t>Medium-Term (Years 2–3)</a:t>
            </a:r>
            <a:endParaRPr lang="en-US" sz="1400" dirty="0"/>
          </a:p>
        </p:txBody>
      </p:sp>
      <p:sp>
        <p:nvSpPr>
          <p:cNvPr id="10" name="Text 6"/>
          <p:cNvSpPr/>
          <p:nvPr/>
        </p:nvSpPr>
        <p:spPr>
          <a:xfrm>
            <a:off x="3386435" y="2514079"/>
            <a:ext cx="2371055" cy="1300163"/>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384653"/>
                </a:solidFill>
                <a:latin typeface="Montserrat" pitchFamily="34" charset="0"/>
                <a:ea typeface="Montserrat" pitchFamily="34" charset="-122"/>
                <a:cs typeface="Montserrat" pitchFamily="34" charset="-120"/>
              </a:rPr>
              <a:t>Increase repeat purchases and customer loyalty. Expand retail presence across Singapore. Strengthen market share within the affordable and healthy mineral water segment.</a:t>
            </a:r>
            <a:endParaRPr lang="en-US" sz="1050" dirty="0"/>
          </a:p>
        </p:txBody>
      </p:sp>
      <p:pic>
        <p:nvPicPr>
          <p:cNvPr id="11" name="Image 2" descr="preencoded.png">    </p:cNvPr>
          <p:cNvPicPr>
            <a:picLocks noChangeAspect="1"/>
          </p:cNvPicPr>
          <p:nvPr/>
        </p:nvPicPr>
        <p:blipFill>
          <a:blip r:embed="rId3"/>
          <a:stretch>
            <a:fillRect/>
          </a:stretch>
        </p:blipFill>
        <p:spPr>
          <a:xfrm>
            <a:off x="6028209" y="1465585"/>
            <a:ext cx="2641848" cy="714375"/>
          </a:xfrm>
          <a:prstGeom prst="rect">
            <a:avLst/>
          </a:prstGeom>
        </p:spPr>
      </p:pic>
      <p:sp>
        <p:nvSpPr>
          <p:cNvPr id="12" name="Text 7"/>
          <p:cNvSpPr/>
          <p:nvPr/>
        </p:nvSpPr>
        <p:spPr>
          <a:xfrm>
            <a:off x="6163568" y="2007171"/>
            <a:ext cx="2371130" cy="222647"/>
          </a:xfrm>
          <a:prstGeom prst="rect">
            <a:avLst/>
          </a:prstGeom>
          <a:noFill/>
          <a:ln/>
        </p:spPr>
        <p:txBody>
          <a:bodyPr wrap="none" lIns="0" tIns="0" rIns="0" bIns="0" rtlCol="0" anchor="t"/>
          <a:lstStyle/>
          <a:p>
            <a:pPr algn="l" indent="0" marL="0">
              <a:lnSpc>
                <a:spcPct val="104000"/>
              </a:lnSpc>
              <a:buNone/>
            </a:pPr>
            <a:r>
              <a:rPr lang="en-US" sz="1400" b="1" dirty="0">
                <a:solidFill>
                  <a:srgbClr val="384653"/>
                </a:solidFill>
                <a:latin typeface="Barlow Bold" pitchFamily="34" charset="0"/>
                <a:ea typeface="Barlow Bold" pitchFamily="34" charset="-122"/>
                <a:cs typeface="Barlow Bold" pitchFamily="34" charset="-120"/>
              </a:rPr>
              <a:t>Long-Term (Beyond 3 Years)</a:t>
            </a:r>
            <a:endParaRPr lang="en-US" sz="1400" dirty="0"/>
          </a:p>
        </p:txBody>
      </p:sp>
      <p:sp>
        <p:nvSpPr>
          <p:cNvPr id="13" name="Text 8"/>
          <p:cNvSpPr/>
          <p:nvPr/>
        </p:nvSpPr>
        <p:spPr>
          <a:xfrm>
            <a:off x="6163568" y="2311003"/>
            <a:ext cx="2371130" cy="1950244"/>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384653"/>
                </a:solidFill>
                <a:latin typeface="Montserrat" pitchFamily="34" charset="0"/>
                <a:ea typeface="Montserrat" pitchFamily="34" charset="-122"/>
                <a:cs typeface="Montserrat" pitchFamily="34" charset="-120"/>
              </a:rPr>
              <a:t>Become one of Singapore's most trusted mainstream mineral water brands. Introduce complementary product variants (e.g., sparkling mineral water or environmentally friendly packaging) while maintaining the brand's core promise of health, affordability, and quality.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600450" cy="5143500"/>
          </a:xfrm>
          <a:prstGeom prst="rect">
            <a:avLst/>
          </a:prstGeom>
        </p:spPr>
      </p:pic>
      <p:sp>
        <p:nvSpPr>
          <p:cNvPr id="3" name="Text 0"/>
          <p:cNvSpPr/>
          <p:nvPr/>
        </p:nvSpPr>
        <p:spPr>
          <a:xfrm>
            <a:off x="3902943" y="1152227"/>
            <a:ext cx="4767114" cy="445443"/>
          </a:xfrm>
          <a:prstGeom prst="rect">
            <a:avLst/>
          </a:prstGeom>
          <a:noFill/>
          <a:ln/>
        </p:spPr>
        <p:txBody>
          <a:bodyPr wrap="none" lIns="0" tIns="0" rIns="0" bIns="0" rtlCol="0" anchor="t"/>
          <a:lstStyle/>
          <a:p>
            <a:pPr algn="l" indent="0" marL="0">
              <a:lnSpc>
                <a:spcPct val="104000"/>
              </a:lnSpc>
              <a:buNone/>
            </a:pPr>
            <a:r>
              <a:rPr lang="en-US" sz="2800" b="1" dirty="0">
                <a:solidFill>
                  <a:srgbClr val="2E3C4E"/>
                </a:solidFill>
                <a:latin typeface="Barlow Bold" pitchFamily="34" charset="0"/>
                <a:ea typeface="Barlow Bold" pitchFamily="34" charset="-122"/>
                <a:cs typeface="Barlow Bold" pitchFamily="34" charset="-120"/>
              </a:rPr>
              <a:t>AquaVital's Promise</a:t>
            </a:r>
            <a:endParaRPr lang="en-US" sz="2800" dirty="0"/>
          </a:p>
        </p:txBody>
      </p:sp>
      <p:sp>
        <p:nvSpPr>
          <p:cNvPr id="4" name="Shape 1"/>
          <p:cNvSpPr/>
          <p:nvPr/>
        </p:nvSpPr>
        <p:spPr>
          <a:xfrm>
            <a:off x="3902943" y="1800746"/>
            <a:ext cx="19050" cy="521345"/>
          </a:xfrm>
          <a:prstGeom prst="roundRect">
            <a:avLst>
              <a:gd name="adj" fmla="val 60000"/>
            </a:avLst>
          </a:prstGeom>
          <a:solidFill>
            <a:srgbClr val="75BAE6"/>
          </a:solidFill>
          <a:ln/>
        </p:spPr>
      </p:sp>
      <p:sp>
        <p:nvSpPr>
          <p:cNvPr id="5" name="Text 2"/>
          <p:cNvSpPr/>
          <p:nvPr/>
        </p:nvSpPr>
        <p:spPr>
          <a:xfrm>
            <a:off x="4106019" y="1953071"/>
            <a:ext cx="5021238" cy="216694"/>
          </a:xfrm>
          <a:prstGeom prst="rect">
            <a:avLst/>
          </a:prstGeom>
          <a:noFill/>
          <a:ln/>
        </p:spPr>
        <p:txBody>
          <a:bodyPr wrap="none" lIns="0" tIns="0" rIns="0" bIns="0" rtlCol="0" anchor="t"/>
          <a:lstStyle/>
          <a:p>
            <a:pPr algn="l" indent="0" marL="0">
              <a:lnSpc>
                <a:spcPct val="133000"/>
              </a:lnSpc>
              <a:buNone/>
            </a:pPr>
            <a:r>
              <a:rPr lang="en-US" sz="1050" dirty="0">
                <a:solidFill>
                  <a:srgbClr val="384653"/>
                </a:solidFill>
                <a:latin typeface="Montserrat" pitchFamily="34" charset="0"/>
                <a:ea typeface="Montserrat" pitchFamily="34" charset="-122"/>
                <a:cs typeface="Montserrat" pitchFamily="34" charset="-120"/>
              </a:rPr>
              <a:t>"Healthy hydration for every family at an affordable price."</a:t>
            </a:r>
            <a:endParaRPr lang="en-US" sz="1050" dirty="0"/>
          </a:p>
        </p:txBody>
      </p:sp>
      <p:sp>
        <p:nvSpPr>
          <p:cNvPr id="6" name="Text 3"/>
          <p:cNvSpPr/>
          <p:nvPr/>
        </p:nvSpPr>
        <p:spPr>
          <a:xfrm>
            <a:off x="3902943" y="2474416"/>
            <a:ext cx="4767114" cy="1516856"/>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384653"/>
                </a:solidFill>
                <a:latin typeface="Montserrat" pitchFamily="34" charset="0"/>
                <a:ea typeface="Montserrat" pitchFamily="34" charset="-122"/>
                <a:cs typeface="Montserrat" pitchFamily="34" charset="-120"/>
              </a:rPr>
              <a:t>AquaVital's marketing strategy is centred on delivering healthy, naturally mineral-rich hydration at an affordable price for Singapore's health-conscious budget families. By integrating targeted marketing, engaging educational content, broad retail availability, measurable performance indicators, and a balanced marketing budget, AquaVital aims to establish a sustainable competitive position within Singapore's </a:t>
            </a:r>
            <a:pPr algn="l" indent="0" marL="0">
              <a:lnSpc>
                <a:spcPct val="133000"/>
              </a:lnSpc>
              <a:buNone/>
            </a:pPr>
            <a:r>
              <a:rPr lang="en-US" sz="1050" b="1" dirty="0">
                <a:solidFill>
                  <a:srgbClr val="384653"/>
                </a:solidFill>
                <a:latin typeface="Montserrat Bold" pitchFamily="34" charset="0"/>
                <a:ea typeface="Montserrat Bold" pitchFamily="34" charset="-122"/>
                <a:cs typeface="Montserrat Bold" pitchFamily="34" charset="-120"/>
              </a:rPr>
              <a:t>affordable and healthy mineral water market</a:t>
            </a:r>
            <a:pPr algn="l" indent="0" marL="0">
              <a:lnSpc>
                <a:spcPct val="133000"/>
              </a:lnSpc>
              <a:buNone/>
            </a:pPr>
            <a:r>
              <a:rPr lang="en-US" sz="1050" dirty="0">
                <a:solidFill>
                  <a:srgbClr val="384653"/>
                </a:solidFill>
                <a:latin typeface="Montserrat" pitchFamily="34" charset="0"/>
                <a:ea typeface="Montserrat" pitchFamily="34" charset="-122"/>
                <a:cs typeface="Montserrat" pitchFamily="34" charset="-120"/>
              </a:rPr>
              <a: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2026-07-12T04:12:46Z</dcterms:created>
  <dcterms:modified xsi:type="dcterms:W3CDTF">2026-07-12T04:12:46Z</dcterms:modified>
</cp:coreProperties>
</file>