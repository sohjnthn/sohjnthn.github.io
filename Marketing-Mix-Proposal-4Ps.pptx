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  <p:embeddedFont>
      <p:font typeface="Montserrat Thin"/>
      <p:regular r:id="rId201323"/>
    </p:embeddedFont>
    <p:embeddedFont>
      <p:font typeface="Montserrat"/>
      <p:regular r:id="rId201324"/>
    </p:embeddedFont>
    <p:embeddedFont>
      <p:font typeface="Montserrat SemiBold"/>
      <p:regular r:id="rId201325"/>
    </p:embeddedFont>
    <p:embeddedFont>
      <p:font typeface="Montserrat Bold"/>
      <p:regular r:id="rId201326"/>
    </p:embeddedFont>
    <p:embeddedFont>
      <p:font typeface="Montserrat Black"/>
      <p:regular r:id="rId201327"/>
    </p:embeddedFont>
    <p:embeddedFont>
      <p:font typeface="Montserrat Light"/>
      <p:regular r:id="rId201328"/>
    </p:embeddedFont>
    <p:embeddedFont>
      <p:font typeface="Montserrat ExtraLight"/>
      <p:regular r:id="rId201329"/>
    </p:embeddedFont>
    <p:embeddedFont>
      <p:font typeface="Montserrat Medium"/>
      <p:regular r:id="rId201330"/>
    </p:embeddedFont>
    <p:embeddedFont>
      <p:font typeface="Montserrat ExtraBold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.png"/><Relationship Id="rId14" Type="http://schemas.openxmlformats.org/officeDocument/2006/relationships/image" Target="../media/image-8-2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027137"/>
            <a:ext cx="4767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AquaVital Mineral Water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1675656"/>
            <a:ext cx="4767114" cy="1229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Marketing Mix Proposal (4Ps)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02943" y="3108201"/>
            <a:ext cx="47671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strategic marketing framework integrating SWOT analysis with the 4Ps — Product, Price, Place, and Promotion — for a new affordable mineral water brand targeting health-conscious families in Singapore.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902943" y="3910608"/>
            <a:ext cx="1351806" cy="205680"/>
          </a:xfrm>
          <a:prstGeom prst="roundRect">
            <a:avLst>
              <a:gd name="adj" fmla="val 79005"/>
            </a:avLst>
          </a:prstGeom>
          <a:solidFill>
            <a:srgbClr val="D4E9F7"/>
          </a:solidFill>
          <a:ln/>
        </p:spPr>
      </p:sp>
      <p:sp>
        <p:nvSpPr>
          <p:cNvPr id="7" name="Text 4"/>
          <p:cNvSpPr/>
          <p:nvPr/>
        </p:nvSpPr>
        <p:spPr>
          <a:xfrm>
            <a:off x="3984129" y="3951163"/>
            <a:ext cx="1646634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POSITIONING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322391" y="3910608"/>
            <a:ext cx="2064767" cy="205680"/>
          </a:xfrm>
          <a:prstGeom prst="roundRect">
            <a:avLst>
              <a:gd name="adj" fmla="val 79005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03577" y="3951163"/>
            <a:ext cx="2359596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ACADEMIC MARKETING STRATEGY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376982"/>
            <a:ext cx="4767114" cy="862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Target Market &amp; Brand Positioning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02943" y="1430462"/>
            <a:ext cx="14288" cy="492398"/>
          </a:xfrm>
          <a:prstGeom prst="roundRect">
            <a:avLst>
              <a:gd name="adj" fmla="val 59998"/>
            </a:avLst>
          </a:prstGeom>
          <a:solidFill>
            <a:srgbClr val="75BAE6"/>
          </a:solidFill>
          <a:ln/>
        </p:spPr>
      </p:sp>
      <p:sp>
        <p:nvSpPr>
          <p:cNvPr id="5" name="Text 2"/>
          <p:cNvSpPr/>
          <p:nvPr/>
        </p:nvSpPr>
        <p:spPr>
          <a:xfrm>
            <a:off x="4099694" y="1573411"/>
            <a:ext cx="5027563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"Healthy Hydration. Everyday Value."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902943" y="2065883"/>
            <a:ext cx="2320007" cy="1596628"/>
          </a:xfrm>
          <a:prstGeom prst="roundRect">
            <a:avLst>
              <a:gd name="adj" fmla="val 12324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38823" y="2201763"/>
            <a:ext cx="2048247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Who They Are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38823" y="2493764"/>
            <a:ext cx="2048247" cy="1032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Parents aged 30–55 from lower-middle to middle-income households seeking healthy, affordable hydration for their families.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49975" y="2065883"/>
            <a:ext cx="2320082" cy="1596628"/>
          </a:xfrm>
          <a:prstGeom prst="roundRect">
            <a:avLst>
              <a:gd name="adj" fmla="val 12324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85855" y="2201763"/>
            <a:ext cx="2048321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Where They Shop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85855" y="2493764"/>
            <a:ext cx="2048321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Supermarkets, neighborhood minimarts, and online grocery platforms — prioritizing convenience and value.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02943" y="3789536"/>
            <a:ext cx="4767114" cy="976908"/>
          </a:xfrm>
          <a:prstGeom prst="roundRect">
            <a:avLst>
              <a:gd name="adj" fmla="val 20142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38823" y="3925416"/>
            <a:ext cx="4495354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They Value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038823" y="4217417"/>
            <a:ext cx="4495354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Health, affordability, and reliability — mineral water that supports daily family wellness without premium pricing.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6684"/>
            <a:ext cx="8196114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SWOT Analysis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73943" y="2586558"/>
            <a:ext cx="4010323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AquaVital enters a competitive market with clear structural advantages in health positioning and affordability. The key strategic imperative: </a:t>
            </a:r>
            <a:pPr algn="l" indent="0" marL="0">
              <a:lnSpc>
                <a:spcPct val="102000"/>
              </a:lnSpc>
              <a:buNone/>
            </a:pPr>
            <a:r>
              <a:rPr lang="en-US" sz="5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leverage strengths in natural minerals and value pricing</a:t>
            </a:r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while building brand awareness through broad distribution and targeted promotions to overcome low initial consumer recognition.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4497" y="713556"/>
            <a:ext cx="4010323" cy="40103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40978"/>
            <a:ext cx="8196114" cy="334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Product Strategy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974973"/>
            <a:ext cx="5240685" cy="29697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7189" y="2057623"/>
            <a:ext cx="2707556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AquaVital Offers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967189" y="2300808"/>
            <a:ext cx="2707556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affordable natural mineral water with naturally occurring essential minerals — zero sugar, zero calories, no preservatives. Designed for healthy everyday family hydration across all settings.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473943" y="4115991"/>
            <a:ext cx="1991916" cy="586532"/>
          </a:xfrm>
          <a:prstGeom prst="roundRect">
            <a:avLst>
              <a:gd name="adj" fmla="val 2597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31" y="4231779"/>
            <a:ext cx="1760339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500 mL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9731" y="4444529"/>
            <a:ext cx="1760339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Individual on-the-go consumption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541984" y="4115991"/>
            <a:ext cx="1991916" cy="586532"/>
          </a:xfrm>
          <a:prstGeom prst="roundRect">
            <a:avLst>
              <a:gd name="adj" fmla="val 2597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57773" y="4231779"/>
            <a:ext cx="1760339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1.5 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657773" y="4444529"/>
            <a:ext cx="1760339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 family daily use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10026" y="4115991"/>
            <a:ext cx="1991916" cy="586532"/>
          </a:xfrm>
          <a:prstGeom prst="roundRect">
            <a:avLst>
              <a:gd name="adj" fmla="val 2597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25814" y="4231779"/>
            <a:ext cx="1760339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 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25814" y="4444529"/>
            <a:ext cx="1760339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Household consumption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678067" y="4115991"/>
            <a:ext cx="1991990" cy="586532"/>
          </a:xfrm>
          <a:prstGeom prst="roundRect">
            <a:avLst>
              <a:gd name="adj" fmla="val 2597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93855" y="4231779"/>
            <a:ext cx="1760413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24-Bottle Carton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793855" y="4444529"/>
            <a:ext cx="1760413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Family value pack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424235"/>
            <a:ext cx="4767114" cy="340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Promotion Strategy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902943" y="884262"/>
            <a:ext cx="4767114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Objective:</a:t>
            </a:r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Increase brand awareness and encourage trial among health-conscious budget families through multi-channel engagement.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2943" y="1266304"/>
            <a:ext cx="207318" cy="2073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02943" y="1572816"/>
            <a:ext cx="476711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Digital Marketing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3902943" y="1790923"/>
            <a:ext cx="4767114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Campaigns across Facebook, Instagram, TikTok, and YouTube targeting family-oriented audiences.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2943" y="2242393"/>
            <a:ext cx="207318" cy="2073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02943" y="2548905"/>
            <a:ext cx="476711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Retail Promotions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3902943" y="2767013"/>
            <a:ext cx="4767114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Supermarket bundle offers, introductory discounts, product sampling, and loyalty reward programs.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2943" y="3218483"/>
            <a:ext cx="207318" cy="2073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02943" y="3524994"/>
            <a:ext cx="476711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Community Engagement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3902943" y="3743102"/>
            <a:ext cx="4767114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Sponsorship of school events, community health campaigns, and family wellness activities.</a:t>
            </a:r>
            <a:endParaRPr lang="en-US" sz="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02943" y="4048199"/>
            <a:ext cx="207318" cy="20731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902943" y="4354711"/>
            <a:ext cx="476711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E-Commerce Incentives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3902943" y="4572819"/>
            <a:ext cx="4767114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grocery promotional vouchers and platform-exclusive family value bundles.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679698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Pricing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463576"/>
            <a:ext cx="39328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Value-Based Pricing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3943" y="1821582"/>
            <a:ext cx="3932858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AquaVital is priced to deliver strong value for money — competitive within Singapore's affordable mineral water segment, accessible for frequent household purchases, and positioned below premium imported brands without compromising quality.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3943" y="3057376"/>
            <a:ext cx="3932858" cy="961281"/>
          </a:xfrm>
          <a:prstGeom prst="roundRect">
            <a:avLst>
              <a:gd name="adj" fmla="val 21130"/>
            </a:avLst>
          </a:prstGeom>
          <a:solidFill>
            <a:srgbClr val="D4E9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302" y="3265215"/>
            <a:ext cx="169218" cy="1353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3879" y="3212976"/>
            <a:ext cx="3357563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Principle: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Affordability without compromise. Healthy hydration should be accessible to every family.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962" y="1480542"/>
            <a:ext cx="3932858" cy="2830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89930"/>
            <a:ext cx="8196114" cy="43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Place (Distribution)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3943" y="1075506"/>
            <a:ext cx="8196114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Objective:</a:t>
            </a:r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Ensure AquaVital is widely available wherever target families shop, work, and stay active — maximizing convenience and daily accessibility.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73943" y="1631603"/>
            <a:ext cx="4034507" cy="1497434"/>
          </a:xfrm>
          <a:prstGeom prst="roundRect">
            <a:avLst>
              <a:gd name="adj" fmla="val 1314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823" y="1767483"/>
            <a:ext cx="393502" cy="393502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8021" y="1875681"/>
            <a:ext cx="177031" cy="1770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823" y="2288009"/>
            <a:ext cx="3762747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Retail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9823" y="2580010"/>
            <a:ext cx="3762747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NTUC FairPrice, Sheng Siong, Giant, Cold Storage, neighborhood minimarts, and convenience stores.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35475" y="1631603"/>
            <a:ext cx="4034582" cy="1497434"/>
          </a:xfrm>
          <a:prstGeom prst="roundRect">
            <a:avLst>
              <a:gd name="adj" fmla="val 1314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71355" y="1767483"/>
            <a:ext cx="393502" cy="393502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9553" y="1875681"/>
            <a:ext cx="177031" cy="1770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1355" y="2288009"/>
            <a:ext cx="3762821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Online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71355" y="2580010"/>
            <a:ext cx="3762821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grocery platforms and e-commerce marketplaces for home delivery convenience.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3943" y="3256062"/>
            <a:ext cx="4034507" cy="1497434"/>
          </a:xfrm>
          <a:prstGeom prst="roundRect">
            <a:avLst>
              <a:gd name="adj" fmla="val 1314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9823" y="3391942"/>
            <a:ext cx="393502" cy="393502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021" y="3500140"/>
            <a:ext cx="177031" cy="17703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9823" y="3912468"/>
            <a:ext cx="3762747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Institutional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09823" y="4204469"/>
            <a:ext cx="3762747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School canteens, office pantries, community centers, and healthcare facilities.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35475" y="3256062"/>
            <a:ext cx="4034582" cy="1497434"/>
          </a:xfrm>
          <a:prstGeom prst="roundRect">
            <a:avLst>
              <a:gd name="adj" fmla="val 1314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71355" y="3391942"/>
            <a:ext cx="393502" cy="393502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9553" y="3500140"/>
            <a:ext cx="177031" cy="17703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71355" y="3912468"/>
            <a:ext cx="3762821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On-the-Go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771355" y="4204469"/>
            <a:ext cx="3762821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Vending machines, gyms, sports facilities, recreational parks, and event venues.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501997"/>
            <a:ext cx="8196114" cy="43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Marketing Mix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3943" y="1187574"/>
            <a:ext cx="8196114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AquaVital's 4Ps form a cohesive strategy — each element reinforces the brand's core promise of </a:t>
            </a:r>
            <a:pPr algn="l" indent="0" marL="0">
              <a:lnSpc>
                <a:spcPct val="131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healthy hydration at everyday value</a:t>
            </a:r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1743670"/>
            <a:ext cx="4034507" cy="138536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2784" y="1853878"/>
            <a:ext cx="196751" cy="1967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9348" y="2278484"/>
            <a:ext cx="3743697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Product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19348" y="2570485"/>
            <a:ext cx="3743697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 mineral water with essential minerals, zero sugar/calories, in family-friendly sizes for everyday use.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475" y="1743670"/>
            <a:ext cx="4034582" cy="1385367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4391" y="1853878"/>
            <a:ext cx="196751" cy="19675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780880" y="2278484"/>
            <a:ext cx="3743771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Promotion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4780880" y="2570485"/>
            <a:ext cx="3743771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campaigns, retail sampling, family bundles, loyalty programs, and community sponsorships.</a:t>
            </a:r>
            <a:endParaRPr lang="en-US" sz="10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3943" y="3256062"/>
            <a:ext cx="4034507" cy="1385367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92784" y="3366269"/>
            <a:ext cx="196751" cy="19675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19348" y="3790876"/>
            <a:ext cx="3743697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Price</a:t>
            </a:r>
            <a:endParaRPr lang="en-US" sz="1350" dirty="0"/>
          </a:p>
        </p:txBody>
      </p:sp>
      <p:sp>
        <p:nvSpPr>
          <p:cNvPr id="15" name="Text 7"/>
          <p:cNvSpPr/>
          <p:nvPr/>
        </p:nvSpPr>
        <p:spPr>
          <a:xfrm>
            <a:off x="619348" y="4082876"/>
            <a:ext cx="3743697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Value-based pricing within Singapore's affordable segment — competitive, accessible, and quality-assured.</a:t>
            </a:r>
            <a:endParaRPr lang="en-US" sz="10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35475" y="3256062"/>
            <a:ext cx="4034582" cy="1385367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54391" y="3366269"/>
            <a:ext cx="196751" cy="196751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780880" y="3790876"/>
            <a:ext cx="3743771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Place</a:t>
            </a:r>
            <a:endParaRPr lang="en-US" sz="1350" dirty="0"/>
          </a:p>
        </p:txBody>
      </p:sp>
      <p:sp>
        <p:nvSpPr>
          <p:cNvPr id="19" name="Text 9"/>
          <p:cNvSpPr/>
          <p:nvPr/>
        </p:nvSpPr>
        <p:spPr>
          <a:xfrm>
            <a:off x="4780880" y="4082876"/>
            <a:ext cx="3743771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Omni-channel distribution across supermarkets, minimarts, online platforms, schools, and sports venues.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609972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Strategic Alignment: SWOT &amp; the 4Ps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326207"/>
            <a:ext cx="8653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marketing mix is directly informed by the SWOT analysis — each element responds to a specific strategic factor.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3943" y="1695227"/>
            <a:ext cx="8196114" cy="2838301"/>
          </a:xfrm>
          <a:prstGeom prst="roundRect">
            <a:avLst>
              <a:gd name="adj" fmla="val 715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3943" y="2090961"/>
            <a:ext cx="8196114" cy="84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73943" y="2701007"/>
            <a:ext cx="8196114" cy="84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3943" y="3311054"/>
            <a:ext cx="8196114" cy="84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3943" y="3921100"/>
            <a:ext cx="8196114" cy="84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4139" y="1785938"/>
            <a:ext cx="264244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SWOT Factor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70101" y="1785938"/>
            <a:ext cx="591703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Marketing Mix Response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4139" y="2179290"/>
            <a:ext cx="218524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Strength: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Affordable pricing &amp; natural minerals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70101" y="2179290"/>
            <a:ext cx="545983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Highlight minerals &amp; family packaging.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Price: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Maintain value-based pricing.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4139" y="2789337"/>
            <a:ext cx="218524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Weakness: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Low brand awareness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70101" y="2789337"/>
            <a:ext cx="591703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Promotion: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Digital campaigns, sampling, and community sponsorships.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4139" y="3399383"/>
            <a:ext cx="218524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Opportunity: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Demand for healthy, affordable beverages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70101" y="3399383"/>
            <a:ext cx="591703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Promote hydration benefits.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Place: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Expand retail and online availability.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4139" y="4009430"/>
            <a:ext cx="218524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Threat: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Strong competition from established brands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70101" y="4009430"/>
            <a:ext cx="545983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Promotion: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Family-focused messaging.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Price: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Multipack bundles.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Place: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Maximize availability.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417463"/>
            <a:ext cx="4767114" cy="327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Takeaways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902943" y="854125"/>
            <a:ext cx="4767114" cy="275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eight-slide framework presents a coherent marketing proposal where each element is logically connected — from situational analysis to strategic execution.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02943" y="1212056"/>
            <a:ext cx="198834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3902943" y="1366763"/>
            <a:ext cx="4767114" cy="14288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7" name="Text 4"/>
          <p:cNvSpPr/>
          <p:nvPr/>
        </p:nvSpPr>
        <p:spPr>
          <a:xfrm>
            <a:off x="3902943" y="1445047"/>
            <a:ext cx="476711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Introduction &amp; Target Market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02943" y="1652290"/>
            <a:ext cx="4767114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the brand, positioning, and primary segment.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902943" y="1937742"/>
            <a:ext cx="198834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902943" y="2082478"/>
            <a:ext cx="4767114" cy="14288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11" name="Text 8"/>
          <p:cNvSpPr/>
          <p:nvPr/>
        </p:nvSpPr>
        <p:spPr>
          <a:xfrm>
            <a:off x="3902943" y="2170733"/>
            <a:ext cx="476711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SWOT Analysis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02943" y="2377976"/>
            <a:ext cx="4767114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internal strengths/weaknesses and external opportunities/threats.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902943" y="2663428"/>
            <a:ext cx="198834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902943" y="2798266"/>
            <a:ext cx="4767114" cy="14288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15" name="Text 12"/>
          <p:cNvSpPr/>
          <p:nvPr/>
        </p:nvSpPr>
        <p:spPr>
          <a:xfrm>
            <a:off x="3902943" y="2896419"/>
            <a:ext cx="476711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4Ps Strategy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902943" y="3103662"/>
            <a:ext cx="4767114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Product, Promotion, Price, and Place decisions.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902943" y="3389114"/>
            <a:ext cx="198834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902943" y="3513981"/>
            <a:ext cx="4767114" cy="14288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19" name="Text 16"/>
          <p:cNvSpPr/>
          <p:nvPr/>
        </p:nvSpPr>
        <p:spPr>
          <a:xfrm>
            <a:off x="3902943" y="3622104"/>
            <a:ext cx="476711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Strategic Alignment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902943" y="3829348"/>
            <a:ext cx="4767114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 every mix element responds to the SWOT findings.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902943" y="4084216"/>
            <a:ext cx="4767114" cy="602084"/>
          </a:xfrm>
          <a:prstGeom prst="roundRect">
            <a:avLst>
              <a:gd name="adj" fmla="val 24775"/>
            </a:avLst>
          </a:prstGeom>
          <a:solidFill>
            <a:srgbClr val="D4E9F7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360" y="4216747"/>
            <a:ext cx="124271" cy="9941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226049" y="4221807"/>
            <a:ext cx="4344591" cy="413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Insight:</a:t>
            </a:r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AquaVital leverages health, affordability, and quality to compete effectively — building brand equity through broad availability and family-focused positioning.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2026-07-12T06:07:10Z</dcterms:created>
  <dcterms:modified xsi:type="dcterms:W3CDTF">2026-07-12T06:07:10Z</dcterms:modified>
</cp:coreProperties>
</file>